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 id="2147484280" r:id="rId2"/>
    <p:sldMasterId id="2147484296" r:id="rId3"/>
  </p:sldMasterIdLst>
  <p:notesMasterIdLst>
    <p:notesMasterId r:id="rId13"/>
  </p:notesMasterIdLst>
  <p:sldIdLst>
    <p:sldId id="296" r:id="rId4"/>
    <p:sldId id="316" r:id="rId5"/>
    <p:sldId id="317" r:id="rId6"/>
    <p:sldId id="308" r:id="rId7"/>
    <p:sldId id="311" r:id="rId8"/>
    <p:sldId id="312" r:id="rId9"/>
    <p:sldId id="313" r:id="rId10"/>
    <p:sldId id="318" r:id="rId11"/>
    <p:sldId id="31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B000F6-CDA4-4318-8F50-FF1415C55EAA}">
          <p14:sldIdLst>
            <p14:sldId id="296"/>
            <p14:sldId id="316"/>
            <p14:sldId id="317"/>
            <p14:sldId id="308"/>
            <p14:sldId id="311"/>
            <p14:sldId id="312"/>
            <p14:sldId id="313"/>
            <p14:sldId id="318"/>
            <p14:sldId id="315"/>
          </p14:sldIdLst>
        </p14:section>
        <p14:section name="Appendix" id="{D895CCA9-D1B8-49D2-BE3D-79FA077217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01D62"/>
    <a:srgbClr val="D9D9D9"/>
    <a:srgbClr val="DB3FA7"/>
    <a:srgbClr val="F0F0F0"/>
    <a:srgbClr val="F5F3F1"/>
    <a:srgbClr val="E5EEF2"/>
    <a:srgbClr val="BB96E5"/>
    <a:srgbClr val="091F2C"/>
    <a:srgbClr val="281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92" autoAdjust="0"/>
    <p:restoredTop sz="97526" autoAdjust="0"/>
  </p:normalViewPr>
  <p:slideViewPr>
    <p:cSldViewPr snapToGrid="0">
      <p:cViewPr varScale="1">
        <p:scale>
          <a:sx n="104" d="100"/>
          <a:sy n="104" d="100"/>
        </p:scale>
        <p:origin x="48" y="320"/>
      </p:cViewPr>
      <p:guideLst/>
    </p:cSldViewPr>
  </p:slideViewPr>
  <p:notesTextViewPr>
    <p:cViewPr>
      <p:scale>
        <a:sx n="3" d="2"/>
        <a:sy n="3" d="2"/>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DFCBE-124E-49CD-BC5C-B17C1B8C3EDC}"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035521-3C52-406A-87A8-13645DF709D5}" type="slidenum">
              <a:rPr lang="en-US" smtClean="0"/>
              <a:t>‹#›</a:t>
            </a:fld>
            <a:endParaRPr lang="en-US"/>
          </a:p>
        </p:txBody>
      </p:sp>
    </p:spTree>
    <p:extLst>
      <p:ext uri="{BB962C8B-B14F-4D97-AF65-F5344CB8AC3E}">
        <p14:creationId xmlns:p14="http://schemas.microsoft.com/office/powerpoint/2010/main" val="221949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882E-16EB-632D-6C4A-6B3271CF9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43175-0763-41C8-067F-405E65EF2513}"/>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A23493B-C962-15F4-7F0D-D3BAB5E72889}"/>
              </a:ext>
            </a:extLst>
          </p:cNvPr>
          <p:cNvSpPr>
            <a:spLocks noGrp="1"/>
          </p:cNvSpPr>
          <p:nvPr>
            <p:ph type="body" idx="1"/>
          </p:nvPr>
        </p:nvSpPr>
        <p:spPr>
          <a:xfrm>
            <a:off x="1371600" y="11736388"/>
            <a:ext cx="10972800" cy="9602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Segoe Sans Text" pitchFamily="2" charset="0"/>
                <a:ea typeface="+mn-ea"/>
                <a:cs typeface="+mn-cs"/>
              </a:rPr>
              <a:t>OPENING | 60 seconds
For product and engineering teams, the question is not whether a model can generate an answer. It is how we turn models, existing data, and operational tools into a product experience that is useful, inspectable, and under customer control.
Today I will show a progression rather than a replacement platform: a model client, a single agent, concurrent specialists, a harness for longer interactions, and an explicit business workflow. Each adds a capability only when the application needs it. Microsoft Agent Framework supplies the application building blocks; your product continues to own the domain model, permissions, policies, and user experience.
We will use real code in these repositories, with fictional recovery evidence where noted. These are demonstrations, not a claim of a shipping production integration or a proposed product roadmap.
TRANSITION: Start with the vocabulary and the ownership boundary.
PRESENTATION: Approximately 19 minutes of discussion plus optional 5-10 minutes of live demos. Source template: C:\repos\maf-workflow\docs\presentations\microsoft-agent-framework-customer.pptx.</a:t>
            </a:r>
            <a:endParaRPr lang="en-US"/>
          </a:p>
        </p:txBody>
      </p:sp>
    </p:spTree>
    <p:extLst>
      <p:ext uri="{BB962C8B-B14F-4D97-AF65-F5344CB8AC3E}">
        <p14:creationId xmlns:p14="http://schemas.microsoft.com/office/powerpoint/2010/main" val="2323266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 60 seconds</a:t>
            </a:r>
          </a:p>
          <a:p>
            <a:endParaRPr/>
          </a:p>
          <a:p>
            <a:r>
              <a:t>I'll start with a short overview of Agent Framework and how it evolved. Then we'll look at the building blocks you can use to build agents and workflows.</a:t>
            </a:r>
          </a:p>
          <a:p>
            <a:endParaRPr/>
          </a:p>
          <a:p>
            <a:r>
              <a:t>First, we'll build a simple agent that remembers each user's conversation. From there, we'll move to real scenarios: a recovery workflow where several agents gather evidence in parallel, and an agent harness for longer tasks. We'll also show how to expose an agent over the A2A protocol so other agents can call it.</a:t>
            </a:r>
          </a:p>
          <a:p>
            <a:endParaRPr/>
          </a:p>
          <a:p>
            <a:r>
              <a:t>We'll finish with what else the framework gives you: MCP servers, authentication between A2A agents, orchestration patterns, workflow state, and human-in-the-loop approvals.</a:t>
            </a:r>
          </a:p>
          <a:p>
            <a:endParaRPr/>
          </a:p>
          <a:p>
            <a:r>
              <a:t>TRANSITION: Let's start with a fair question: why use a framework at all instead of building our own?</a:t>
            </a:r>
          </a:p>
        </p:txBody>
      </p:sp>
      <p:sp>
        <p:nvSpPr>
          <p:cNvPr id="4" name="Slide Number Placeholder 3"/>
          <p:cNvSpPr>
            <a:spLocks noGrp="1"/>
          </p:cNvSpPr>
          <p:nvPr>
            <p:ph type="sldNum" sz="quarter" idx="5"/>
          </p:nvPr>
        </p:nvSpPr>
        <p:spPr/>
        <p:txBody>
          <a:bodyPr/>
          <a:lstStyle/>
          <a:p>
            <a:fld id="{E0035521-3C52-406A-87A8-13645DF709D5}" type="slidenum">
              <a:rPr lang="en-US" smtClean="0"/>
              <a:t>2</a:t>
            </a:fld>
            <a:endParaRPr lang="en-US"/>
          </a:p>
        </p:txBody>
      </p:sp>
    </p:spTree>
    <p:extLst>
      <p:ext uri="{BB962C8B-B14F-4D97-AF65-F5344CB8AC3E}">
        <p14:creationId xmlns:p14="http://schemas.microsoft.com/office/powerpoint/2010/main" val="2631436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A FRAMEWORK | 90 seconds</a:t>
            </a:r>
          </a:p>
          <a:p>
            <a:endParaRPr lang="en-US"/>
          </a:p>
          <a:p>
            <a:r>
              <a:rPr lang="en-US"/>
              <a:t>A custom agent harness often begins as a thin wrapper around an OpenAI client. Product requirements quickly add customer-specific stores for conversation history and memory, security and authorization boundaries, observability, governance, and an ongoing backlog of capabilities that the application team must build and maintain.</a:t>
            </a:r>
          </a:p>
          <a:p>
            <a:endParaRPr lang="en-US"/>
          </a:p>
          <a:p>
            <a:r>
              <a:rPr lang="en-US"/>
              <a:t>Microsoft Agent Framework represents the fourth iteration of Microsoft's agent framework journey. AutoGen v1 introduced early agentic interaction patterns. AutoGen v2 advanced a cloud event-based protocol. Semantic Kernel added plugins, planning, and enterprise-grade support. Agent Framework carries those learnings into one foundation for agents, workflows, harnesses, and integrations.</a:t>
            </a:r>
          </a:p>
          <a:p>
            <a:endParaRPr lang="en-US"/>
          </a:p>
          <a:p>
            <a:r>
              <a:rPr lang="en-US"/>
              <a:t>This evolution has been shaped by feedback from thousands of enterprise customers and engineering teams. The value is not only the capabilities available today; it is the maintained path for adopting new capabilities without rebuilding the harness for every application.</a:t>
            </a:r>
          </a:p>
          <a:p>
            <a:endParaRPr lang="en-US"/>
          </a:p>
          <a:p>
            <a:r>
              <a:rPr lang="en-US"/>
              <a:t>TRANSITION: Let us look at the unified framework that resulted from those iterations.</a:t>
            </a:r>
          </a:p>
        </p:txBody>
      </p:sp>
      <p:sp>
        <p:nvSpPr>
          <p:cNvPr id="4" name="Slide Number Placeholder 3"/>
          <p:cNvSpPr>
            <a:spLocks noGrp="1"/>
          </p:cNvSpPr>
          <p:nvPr>
            <p:ph type="sldNum" sz="quarter" idx="5"/>
          </p:nvPr>
        </p:nvSpPr>
        <p:spPr/>
        <p:txBody>
          <a:bodyPr/>
          <a:lstStyle/>
          <a:p>
            <a:fld id="{E0035521-3C52-406A-87A8-13645DF709D5}" type="slidenum">
              <a:rPr lang="en-US" smtClean="0"/>
              <a:t>3</a:t>
            </a:fld>
            <a:endParaRPr lang="en-US"/>
          </a:p>
        </p:txBody>
      </p:sp>
    </p:spTree>
    <p:extLst>
      <p:ext uri="{BB962C8B-B14F-4D97-AF65-F5344CB8AC3E}">
        <p14:creationId xmlns:p14="http://schemas.microsoft.com/office/powerpoint/2010/main" val="4075650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4324-56F2-EDD7-A17B-4C45AC8B1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DE7FB-E7FD-EF47-2F7B-2AD688535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02A4A-6BFE-9792-215C-536551D1607D}"/>
              </a:ext>
            </a:extLst>
          </p:cNvPr>
          <p:cNvSpPr>
            <a:spLocks noGrp="1"/>
          </p:cNvSpPr>
          <p:nvPr>
            <p:ph type="body" idx="1"/>
          </p:nvPr>
        </p:nvSpPr>
        <p:spPr/>
        <p:txBody>
          <a:bodyPr/>
          <a:lstStyle/>
          <a:p>
            <a:r>
              <a:rPr lang="en-US" b="1"/>
              <a:t>FRAMEWORK OVERVIEW | 90 seconds
Microsoft Agent Framework is an open-source framework for building agents and composing them into workflows. Think of an agent as instructions, a model client, tools, and session context. Think of a workflow as an explicit execution graph: which steps run, which run concurrently, and where a person must respond. A harness adds a preconfigured set of capabilities such as planning tools, memory, and context compaction. Integrations connect the runtime to models, MCP tools, middleware, and telemetry.
For product leadership, this means we can start with one high-value experience and evolve it without making every use case a multi-agent system. For engineering, the important distinction is that flexible model behavior sits inside explicit application boundaries. Python and .NET, multiple model integrations, and local or cloud deployment provide options; they do not make every provider's features identical.
A useful shorthand is: agents interpret, workflows coordinate, and the application authorizes. Foundry is a complementary service platform, not another name for the SDK. Using the framework locally does not automatically enable managed hosting, RBAC, monitoring, or compliance.
TRANSITION: Let's see how little it takes to get a working agent.
SOURCE: https://learn.microsoft.com/en-us/agent-framework/overview/ ; https://github.com/microsoft/agent-framework
VERSION NOTE: Background-agent delegation and some harness features are experimental in the installed runtime. The demo does not depend on background delegation.</a:t>
            </a:r>
            <a:endParaRPr lang="en-US">
              <a:ea typeface="Calibri"/>
              <a:cs typeface="Calibri"/>
            </a:endParaRPr>
          </a:p>
        </p:txBody>
      </p:sp>
      <p:sp>
        <p:nvSpPr>
          <p:cNvPr id="4" name="Slide Number Placeholder 3">
            <a:extLst>
              <a:ext uri="{FF2B5EF4-FFF2-40B4-BE49-F238E27FC236}">
                <a16:creationId xmlns:a16="http://schemas.microsoft.com/office/drawing/2014/main" id="{CFC3E984-A9EE-3F74-710E-AE04E44EC9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45E1E4-625C-4E71-BAD2-2E70C1044D4A}"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9298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 YOUR FIRST AGENT | 3 minutes</a:t>
            </a:r>
          </a:p>
          <a:p>
            <a:endParaRPr/>
          </a:p>
          <a:p>
            <a:r>
              <a:t>Let's start with the quickest way to get a working agent. It takes four pieces, and this one sample has all of them.</a:t>
            </a:r>
          </a:p>
          <a:p>
            <a:endParaRPr/>
          </a:p>
          <a:p>
            <a:r>
              <a:t>First, a model client. We use an OpenAI-compatible client, so moving between an open-weight model running locally and a hosted frontier model is just a change to the endpoint and model name. The code doesn't change.</a:t>
            </a:r>
          </a:p>
          <a:p>
            <a:endParaRPr/>
          </a:p>
          <a:p>
            <a:r>
              <a:t>Second, the agent. You give it a name and instructions once, and then call agent.run. The framework handles the model calls and streams the response back.</a:t>
            </a:r>
          </a:p>
          <a:p>
            <a:endParaRPr/>
          </a:p>
          <a:p>
            <a:r>
              <a:t>Third, history. We plug in FileHistoryProvider, and the framework loads the conversation before each run and saves it afterwards. The app maps each user and conversation to their own session.</a:t>
            </a:r>
          </a:p>
          <a:p>
            <a:endParaRPr/>
          </a:p>
          <a:p>
            <a:r>
              <a:t>Fourth, OpenTelemetry. With one call, the framework traces every agent run and model call. We wrap each turn in a span and add our own log records, so the logs and traces line up under the same trace ID.</a:t>
            </a:r>
          </a:p>
          <a:p>
            <a:endParaRPr/>
          </a:p>
          <a:p>
            <a:r>
              <a:t>Let me show you. Alice tells the agent about a workload. I stop the program, start it again, and she picks up right where she left off. Then Bob uses the same conversation name and gets none of Alice's history, because he has his own session. Finally, I'll open the trace file so you can see the turn, the agent run, and the model call nested together.</a:t>
            </a:r>
          </a:p>
          <a:p>
            <a:endParaRPr/>
          </a:p>
          <a:p>
            <a:r>
              <a:t>Here we're saving history and telemetry to local files, but the same pattern works with Redis or Azure Cosmos DB for history, and Azure Monitor or any OpenTelemetry backend for telemetry.</a:t>
            </a:r>
          </a:p>
          <a:p>
            <a:endParaRPr/>
          </a:p>
          <a:p>
            <a:r>
              <a:t>DEMO: In PowerShell, choose a fresh conversation name:</a:t>
            </a:r>
          </a:p>
          <a:p>
            <a:r>
              <a:t>$demoSession = "recovery-" + (Get-Date -Format "yyyyMMdd-HHmmss")</a:t>
            </a:r>
          </a:p>
          <a:p>
            <a:r>
              <a:t>python .\01_quick_start_demo.py --user-id alice --session $demoSession --once "For this fictional demo, ClaimsPortal has a 15-minute RPO and requires Priya's approval. Acknowledge briefly."</a:t>
            </a:r>
          </a:p>
          <a:p>
            <a:r>
              <a:t>python .\01_quick_start_demo.py --user-id alice --session $demoSession --once "What workload, RPO, and approver did I give you?"</a:t>
            </a:r>
          </a:p>
          <a:p>
            <a:r>
              <a:t>python .\01_quick_start_demo.py --user-id bob --session $demoSession --once "What workload, RPO, and approver have I given you? Do not guess."</a:t>
            </a:r>
          </a:p>
          <a:p>
            <a:r>
              <a:t>Then open traces.jsonl and logs.jsonl in the telemetry directory printed at the end of the last run.</a:t>
            </a:r>
          </a:p>
          <a:p>
            <a:endParaRPr/>
          </a:p>
          <a:p>
            <a:r>
              <a:t>SHOW: create_model_client() returning OpenAIChatCompletionClient; Agent(..., instructions=..., context_providers=[history]); agent.create_session(session_id=...); agent.run(prompt, session=session, stream=True); enable_instrumentation(enable_sensitive_data=True). Alice's second process loads saved messages. Bob starts with zero stored messages despite the same conversation name. The console prints the framework session ID, JSONL history path, trace ID, and telemetry directory. In traces.jsonl, the demo.turn, invoke_agent, and chat spans share one trace ID, and the chat and invoke_agent spans carry gen_ai.input.messages and gen_ai.output.messages with the actual prompt and reply; the turn-started and turn-completed log records carry the same ID. Show only synthetic data.</a:t>
            </a:r>
          </a:p>
          <a:p>
            <a:endParaRPr/>
          </a:p>
          <a:p>
            <a:r>
              <a:t>MODEL SETUP: All model-using samples call model_client.py:create_model_client(), which builds agent_framework.openai.OpenAIChatCompletionClient (Chat Completions). Set OPENAI_BASE_URL to an OpenAI-compatible API base and OPENAI_MODEL to the endpoint's model ID. OPENAI_AUTH_MODE defaults to api_key (requires OPENAI_API_KEY); optional entra mode uses an authorized Azure CLI login and HTTPS. No Foundry client or FOUNDRY_* fallback is used. Never show real credentials on screen. Illustrative configurations:</a:t>
            </a:r>
          </a:p>
          <a:p>
            <a:endParaRPr/>
          </a:p>
          <a:p>
            <a:r>
              <a:t># OSS/open-weight model served by a separately running compatible server</a:t>
            </a:r>
          </a:p>
          <a:p>
            <a:r>
              <a:t>OPENAI_BASE_URL=http://localhost:8000/v1</a:t>
            </a:r>
          </a:p>
          <a:p>
            <a:r>
              <a:t>OPENAI_MODEL=gpt-oss-120b</a:t>
            </a:r>
          </a:p>
          <a:p>
            <a:endParaRPr/>
          </a:p>
          <a:p>
            <a:r>
              <a:t># Hosted frontier model</a:t>
            </a:r>
          </a:p>
          <a:p>
            <a:r>
              <a:t>OPENAI_BASE_URL=https://api.openai.com/v1</a:t>
            </a:r>
          </a:p>
          <a:p>
            <a:r>
              <a:t>OPENAI_MODEL=gpt-5</a:t>
            </a:r>
          </a:p>
          <a:p>
            <a:endParaRPr/>
          </a:p>
          <a:p>
            <a:r>
              <a:t>SESSION MAPPING: The application maps an exact user ID and conversation name to a stable framework session ID using SHA-256 over a structured pair. This is application code, not a framework API, and it is not encryption or authentication. --user-id is a demo identity; a hosted application must derive user/tenant identity from validated claims and enforce ownership before resolving sessions.</a:t>
            </a:r>
          </a:p>
          <a:p>
            <a:endParaRPr/>
          </a:p>
          <a:p>
            <a:r>
              <a:t>STORAGE OPTIONS: InMemoryHistoryProvider is the baseline. FileHistoryProvider persists JSONL in core. First-party RedisHistoryProvider (agent-framework-redis) and CosmosHistoryProvider (agent-framework-azure-cosmos) need provisioned services and credentials and are optional installs. Switching providers does not migrate old data. FileSessionStore stores full AgentSession snapshots and is a different API.</a:t>
            </a:r>
          </a:p>
          <a:p>
            <a:endParaRPr/>
          </a:p>
          <a:p>
            <a:r>
              <a:t>BOUNDARIES: FileHistoryProvider is experimental in installed core 1.13.0. Files are plaintext; use trusted directories. One writer per session; no cross-host locking. Long histories still consume model context and need a compaction policy. Conversation recall is not evidence that a backup is recoverable or a restore authorization.</a:t>
            </a:r>
          </a:p>
          <a:p>
            <a:endParaRPr/>
          </a:p>
          <a:p>
            <a:r>
              <a:t>TELEMETRY: Each run writes traces.jsonl and logs.jsonl to a new folder under otel-demo-output (override with --telemetry-dir). Prompt and response capture is enabled for this demo (enable_sensitive_data=True), so traces contain the system instructions, user input, and agent replies in plaintext; use synthetic data only. Production should keep capture off by default or apply a deliberate data-handling policy. Log records use the hashed session ID, not the raw user ID. This is a local console exporter, not a configured monitoring or audit pipeline; production needs an exporter, a backend, and a data-capture policy. The "History loaded" record is written before the first turn span, so it has no trace ID.</a:t>
            </a:r>
          </a:p>
          <a:p>
            <a:endParaRPr/>
          </a:p>
          <a:p>
            <a:r>
              <a:t>TRANSITION: Now let's give agents a real job: investigating a recovery incident in parallel.</a:t>
            </a:r>
          </a:p>
          <a:p>
            <a:endParaRPr/>
          </a:p>
          <a:p>
            <a:r>
              <a:t>REPO: 01_quick_start_demo.py; model_client.py; MODEL_ENDPOINT_SETUP.md</a:t>
            </a:r>
          </a:p>
          <a:p>
            <a:r>
              <a:t>DETAILED DEMO: Persistent-Agent-Talk-Track.md</a:t>
            </a:r>
          </a:p>
          <a:p>
            <a:r>
              <a:t>SOURCES: https://learn.microsoft.com/en-us/agent-framework/concepts/agents/conversations/storage ; https://learn.microsoft.com/en-us/agent-framework/concepts/agents/conversations/session ; https://learn.microsoft.com/en-us/agent-framework/agents/observability</a:t>
            </a:r>
          </a:p>
        </p:txBody>
      </p:sp>
      <p:sp>
        <p:nvSpPr>
          <p:cNvPr id="4" name="Slide Number Placeholder 3"/>
          <p:cNvSpPr>
            <a:spLocks noGrp="1"/>
          </p:cNvSpPr>
          <p:nvPr>
            <p:ph type="sldNum" sz="quarter" idx="5"/>
          </p:nvPr>
        </p:nvSpPr>
        <p:spPr/>
        <p:txBody>
          <a:bodyPr/>
          <a:lstStyle/>
          <a:p>
            <a:fld id="{E0035521-3C52-406A-87A8-13645DF709D5}" type="slidenum">
              <a:rPr lang="en-US" smtClean="0"/>
              <a:t>5</a:t>
            </a:fld>
            <a:endParaRPr lang="en-US"/>
          </a:p>
        </p:txBody>
      </p:sp>
    </p:spTree>
    <p:extLst>
      <p:ext uri="{BB962C8B-B14F-4D97-AF65-F5344CB8AC3E}">
        <p14:creationId xmlns:p14="http://schemas.microsoft.com/office/powerpoint/2010/main" val="3620428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CASE 4 - CONCURRENT RECOVERY WAR ROOM | 2 minutes
Here is the most directly relevant example for this audience. A fictional Contoso Health incident fans out to three specialists: external threat guidance through WebIQ MCP, internal policy and incident evidence through a local MCP server, and backup posture through governed read-only SQLite views exposed by that same server. ConcurrentBuilder performs the fan-out/fan-in. This is an explicit concurrent workflow, not the harness's optional background-agent feature.
Watch the experience: each worker describes its investigation, actual MCP calls are shown, worker-labeled text arrives in distinct colors, and the incident commander streams a synthesis after all reports arrive. The custom aggregator is instructed to preserve conflicts and unknowns, rather than merely concatenate reports.
The seeded claims-postgres record has a 38-minute backup age against a 15-minute RPO and a failed application validation associated with DNS. Another workload has a successful historical test but unresolved identity clearance. The useful outcome is explaining why technical recoverability is not the same as authorization for production recovery. The actual generated conclusion can vary; the evidence values are the testable part.
Important boundaries: data is fictional and static; WebIQ supplies current public information; there is no live backup-platform API connection or restore action. Both internal specialists can currently see both local MCP tools, so roles are differentiated by instructions, not server-enforced per-agent permissions. Production should enforce tenant and tool permissions, not rely on prompts.
SETUP: Run the local recovery-evidence setup script only when you intend to recreate the fictional seed data.
DEMO: Run the concurrent recovery-readiness workflow entry point in the workspace.
SHOW: ConcurrentBuilder, .with_aggregator(...), MCPStdioTool, stream=True. No speedup ratio is claimed without a controlled sequential baseline.
TRANSITION: Parallel investigation is one pattern; a long-running individual assistant needs a different set of runtime capabilities.
REPO: Concurrent recovery workflow, local evidence MCP server, and separate seed-data setup script.
SOURCE: https://learn.microsoft.com/en-us/agent-framework/workflows/orchestrations/concurrent</a:t>
            </a:r>
          </a:p>
        </p:txBody>
      </p:sp>
      <p:sp>
        <p:nvSpPr>
          <p:cNvPr id="4" name="Slide Number Placeholder 3"/>
          <p:cNvSpPr>
            <a:spLocks noGrp="1"/>
          </p:cNvSpPr>
          <p:nvPr>
            <p:ph type="sldNum" sz="quarter" idx="5"/>
          </p:nvPr>
        </p:nvSpPr>
        <p:spPr/>
        <p:txBody>
          <a:bodyPr/>
          <a:lstStyle/>
          <a:p>
            <a:fld id="{E0035521-3C52-406A-87A8-13645DF709D5}" type="slidenum">
              <a:rPr lang="en-US" smtClean="0"/>
              <a:t>6</a:t>
            </a:fld>
            <a:endParaRPr lang="en-US"/>
          </a:p>
        </p:txBody>
      </p:sp>
    </p:spTree>
    <p:extLst>
      <p:ext uri="{BB962C8B-B14F-4D97-AF65-F5344CB8AC3E}">
        <p14:creationId xmlns:p14="http://schemas.microsoft.com/office/powerpoint/2010/main" val="2352416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CASE 5 - AGENT HARNESS | 2 minutes
The harness demo is a travel concierge, chosen to make the mechanics easy to see. It uses create_harness_agent to assemble a configured Agent with plan/execute mode tools, a to-do list, file memory, WebIQ MCP, and context compaction. These are runtime capabilities we can reuse for other domains; the proposal is not to build a travel product.
A user expresses a durable preference. The assistant can write a customer-scoped profile, use it in a later conversation, and ground recommendations through WebIQ. Summarization reduces conversation context as it grows. The application separately displays harness events so the user can see actions without turning the answer into internal narration.
For an operational assistant, the analogous value is preserving investigation context and tracking multi-step work. But the domain-specific memory policy needs redesign: which facts are appropriate to retain, who can read them, how tenants are isolated, and how retention and deletion work. This sample uses a fixed demo customer scope, not production tenant authorization. Prompted plan/execute modes are not an enforcement mechanism for dangerous operations.
The code disables the harness's default file-memory provider and supplies its own scoped FileMemoryProvider. It does not disable memory altogether. Background subagents are optional, experimental in the installed version, and not configured in this demo. Compaction is useful but lossy, so evidence retention and accuracy need tests.
DEMO: python .\agent_harness_webiq_mcp.py
PROMPT: "I prefer quiet hotels and vegetarian food. Recommend a weekend destination with sources."
SHOW: create_harness_agent options, custom memory provider, to-do/mode events, and compaction configuration.
TRANSITION: Next, let's make our agent callable by other agents over the A2A protocol.
REPO: C:\repos\agent_framework_harness\agent_harness_webiq_mcp.py
SOURCE: https://learn.microsoft.com/en-us/agent-framework/agents/background-agents
Additional source: https://github.com/MicrosoftDocs/azure-ai-docs/blob/main/agent-framework/concepts/harness.md . The current Python factory is released; memory/file APIs, background agents, and looping have feature-specific maturity flags. Check the installed package and provider before committing a production design.</a:t>
            </a:r>
          </a:p>
        </p:txBody>
      </p:sp>
      <p:sp>
        <p:nvSpPr>
          <p:cNvPr id="4" name="Slide Number Placeholder 3"/>
          <p:cNvSpPr>
            <a:spLocks noGrp="1"/>
          </p:cNvSpPr>
          <p:nvPr>
            <p:ph type="sldNum" sz="quarter" idx="5"/>
          </p:nvPr>
        </p:nvSpPr>
        <p:spPr/>
        <p:txBody>
          <a:bodyPr/>
          <a:lstStyle/>
          <a:p>
            <a:fld id="{E0035521-3C52-406A-87A8-13645DF709D5}" type="slidenum">
              <a:rPr lang="en-US" smtClean="0"/>
              <a:t>7</a:t>
            </a:fld>
            <a:endParaRPr lang="en-US"/>
          </a:p>
        </p:txBody>
      </p:sp>
    </p:spTree>
    <p:extLst>
      <p:ext uri="{BB962C8B-B14F-4D97-AF65-F5344CB8AC3E}">
        <p14:creationId xmlns:p14="http://schemas.microsoft.com/office/powerpoint/2010/main" val="1882937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EXPOSE AN AGENT OVER A2A | 90 seconds</a:t>
            </a:r>
          </a:p>
          <a:p>
            <a:endParaRPr/>
          </a:p>
          <a:p>
            <a:r>
              <a:t>So far every agent has been called from our own process. The Agent-to-Agent (A2A) protocol lets an agent built with any framework discover and call ours over HTTP. The agent definition does not change: the same Agent, instructions, and history provider are wrapped by A2AExecutor from the agent-framework-a2a package and served by the official a2a-sdk request handler as JSON-RPC.</a:t>
            </a:r>
          </a:p>
          <a:p>
            <a:endParaRPr/>
          </a:p>
          <a:p>
            <a:r>
              <a:t>Discovery happens through the agent card at /.well-known/agent-card.json: name, description, skills, streaming capability, and endpoint. On the calling side, A2AAgent reads that card and behaves like any other Agent Framework agent, including streaming and sessions. The A2A context_id becomes the framework session ID, so FileHistoryProvider keeps multi-turn context across separate HTTP requests.</a:t>
            </a:r>
          </a:p>
          <a:p>
            <a:endParaRPr/>
          </a:p>
          <a:p>
            <a:r>
              <a:t>Be explicit about what this demo does not do. There is no authentication, the task store is in memory, and the context_id is supplied by the caller, so anyone who knows it could read that conversation. A production deployment needs authenticated callers, history bound to validated identity, a durable task store, and network controls. agent-framework-a2a is a pre-release package.</a:t>
            </a:r>
          </a:p>
          <a:p>
            <a:endParaRPr/>
          </a:p>
          <a:p>
            <a:r>
              <a:t>DEMO (two terminals): python .\a2a_server.py   then   python .\a2a_client.py</a:t>
            </a:r>
          </a:p>
          <a:p>
            <a:r>
              <a:t>SHOW: a2a_server.py wraps the Agent with A2AExecutor; a2a_client.py imports none of the server code and only knows the URL. Then show the discovered agent card and skill, a streamed answer, and a follow-up that relies on the first turn with the same context_id.</a:t>
            </a:r>
          </a:p>
          <a:p>
            <a:r>
              <a:t>TRANSITION: Let's close with what else the framework gives you as your agents grow.</a:t>
            </a:r>
          </a:p>
          <a:p>
            <a:endParaRPr/>
          </a:p>
          <a:p>
            <a:r>
              <a:t>REPO: C:\repos\agent_framework_demo\working-set\a2a_server.py ; C:\repos\agent_framework_demo\working-set\a2a_client.py</a:t>
            </a:r>
          </a:p>
          <a:p>
            <a:r>
              <a:t>SOURCES: https://learn.microsoft.com/en-us/agent-framework/hosting/self-hosting/a2a/server ; https://a2a-protocol.org/latest/</a:t>
            </a:r>
          </a:p>
        </p:txBody>
      </p:sp>
      <p:sp>
        <p:nvSpPr>
          <p:cNvPr id="4" name="Slide Number Placeholder 3"/>
          <p:cNvSpPr>
            <a:spLocks noGrp="1"/>
          </p:cNvSpPr>
          <p:nvPr>
            <p:ph type="sldNum" sz="quarter" idx="5"/>
          </p:nvPr>
        </p:nvSpPr>
        <p:spPr/>
        <p:txBody>
          <a:bodyPr/>
          <a:lstStyle/>
          <a:p>
            <a:fld id="{E0035521-3C52-406A-87A8-13645DF709D5}" type="slidenum">
              <a:rPr lang="en-US" smtClean="0"/>
              <a:t>8</a:t>
            </a:fld>
            <a:endParaRPr lang="en-US"/>
          </a:p>
        </p:txBody>
      </p:sp>
    </p:spTree>
    <p:extLst>
      <p:ext uri="{BB962C8B-B14F-4D97-AF65-F5344CB8AC3E}">
        <p14:creationId xmlns:p14="http://schemas.microsoft.com/office/powerpoint/2010/main" val="1872046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 2 minutes</a:t>
            </a:r>
          </a:p>
          <a:p>
            <a:endParaRPr/>
          </a:p>
          <a:p>
            <a:r>
              <a:t>Let me close with a few things we didn't have time to demo, but that you'll want as your agents grow.</a:t>
            </a:r>
          </a:p>
          <a:p>
            <a:endParaRPr/>
          </a:p>
          <a:p>
            <a:r>
              <a:t>MCP works both ways. Your agents can use tools from any MCP server, whether it runs locally or over HTTP. And you can turn any agent into an MCP server, so other tools and apps can call it.</a:t>
            </a:r>
          </a:p>
          <a:p>
            <a:endParaRPr/>
          </a:p>
          <a:p>
            <a:r>
              <a:t>For A2A, the agent card tells callers how to authenticate, and the A2A client sends the credentials for you. Our demo ran without authentication; in production, you'd turn it on.</a:t>
            </a:r>
          </a:p>
          <a:p>
            <a:endParaRPr/>
          </a:p>
          <a:p>
            <a:r>
              <a:t>When one agent isn't enough, there are built-in orchestration patterns: sequential, concurrent, handoff, group chat, and Magentic. If none of those fit, you can build your own workflow graph.</a:t>
            </a:r>
          </a:p>
          <a:p>
            <a:endParaRPr/>
          </a:p>
          <a:p>
            <a:r>
              <a:t>Workflows keep their own state and can save checkpoints along the way, in memory, in files, or in Cosmos DB. That's what makes the next point possible.</a:t>
            </a:r>
          </a:p>
          <a:p>
            <a:endParaRPr/>
          </a:p>
          <a:p>
            <a:r>
              <a:t>A workflow can pause and wait for a person to answer or approve, and tools can require approval before they run. Because of the checkpoints, the workflow can pick up where it left off, even after a restart.</a:t>
            </a:r>
          </a:p>
          <a:p>
            <a:endParaRPr/>
          </a:p>
          <a:p>
            <a:r>
              <a:t>The easiest way to start is the way we did today: one agent, then add pieces as you need them. Thank you.</a:t>
            </a:r>
          </a:p>
          <a:p>
            <a:endParaRPr/>
          </a:p>
          <a:p>
            <a:r>
              <a:t>SHOW: Point to each card left to right, top to bottom. End on the "Get started" card and the banner.</a:t>
            </a:r>
          </a:p>
          <a:p>
            <a:r>
              <a:t>API NOTES: MCPStdioTool, MCPStreamableHTTPTool, and MCPWebsocketTool connect MCP servers; agent.as_mcp_server() exposes an agent. A2AAgent(auth_interceptor=...) applies credentials for the security schemes declared in the remote agent card; the server-side host must still enforce authentication. Orchestration builders: SequentialBuilder, ConcurrentBuilder, HandoffBuilder, GroupChatBuilder, MagenticBuilder; WorkflowBuilder for custom graphs. Executors share state with ctx.set_state()/ctx.get_state(); checkpoint storage options are InMemoryCheckpointStorage, FileCheckpointStorage, and CosmosCheckpointStorage, resumed with workflow.run(checkpoint_id=..., checkpoint_storage=...). Human-in-the-loop uses ctx.request_info(), answered with workflow.run(responses=...); tools can use approval_mode="always_require".</a:t>
            </a:r>
          </a:p>
          <a:p>
            <a:r>
              <a:t>BOUNDARIES: These SDK capabilities are not automatic RBAC, tenant isolation, compliance, durable hosting, or a guarantee of safe autonomous action. MCP servers must enforce their own permissions, and approval prompts are not an authorization system. Several integrations (A2A, Cosmos DB, some harness features) are pre-release; pin and validate versions.</a:t>
            </a:r>
          </a:p>
          <a:p>
            <a:r>
              <a:t>SOURCES: https://learn.microsoft.com/en-us/agent-framework/agents/tools/local-mcp-tools ; https://learn.microsoft.com/en-us/agent-framework/integrations/a2a ; https://learn.microsoft.com/en-us/agent-framework/workflows/orchestrations/ ; https://learn.microsoft.com/en-us/agent-framework/workflows/state ; https://learn.microsoft.com/en-us/agent-framework/workflows/checkpoints ; https://learn.microsoft.com/en-us/agent-framework/workflows/human-in-the-loop ; https://learn.microsoft.com/en-us/agent-framework/agents/tools/tool-approval ; https://github.com/microsoft/agent-framework</a:t>
            </a:r>
          </a:p>
        </p:txBody>
      </p:sp>
      <p:sp>
        <p:nvSpPr>
          <p:cNvPr id="4" name="Slide Number Placeholder 3"/>
          <p:cNvSpPr>
            <a:spLocks noGrp="1"/>
          </p:cNvSpPr>
          <p:nvPr>
            <p:ph type="sldNum" sz="quarter" idx="5"/>
          </p:nvPr>
        </p:nvSpPr>
        <p:spPr/>
        <p:txBody>
          <a:bodyPr/>
          <a:lstStyle/>
          <a:p>
            <a:fld id="{E0035521-3C52-406A-87A8-13645DF709D5}" type="slidenum">
              <a:rPr lang="en-US" smtClean="0"/>
              <a:t>9</a:t>
            </a:fld>
            <a:endParaRPr lang="en-US"/>
          </a:p>
        </p:txBody>
      </p:sp>
    </p:spTree>
    <p:extLst>
      <p:ext uri="{BB962C8B-B14F-4D97-AF65-F5344CB8AC3E}">
        <p14:creationId xmlns:p14="http://schemas.microsoft.com/office/powerpoint/2010/main" val="3860001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9703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9684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16984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6" name="Image 1" descr=" ">
            <a:extLst>
              <a:ext uri="{FF2B5EF4-FFF2-40B4-BE49-F238E27FC236}">
                <a16:creationId xmlns:a16="http://schemas.microsoft.com/office/drawing/2014/main" id="{3CC3688D-0783-4BEA-BBC0-5B29791F38B1}"/>
              </a:ext>
            </a:extLst>
          </p:cNvPr>
          <p:cNvPicPr>
            <a:picLocks noChangeAspect="1"/>
          </p:cNvPicPr>
          <p:nvPr userDrawn="1"/>
        </p:nvPicPr>
        <p:blipFill>
          <a:blip r:embed="rId2">
            <a:biLevel thresh="50000"/>
            <a:alphaModFix/>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tretch>
            <a:fillRect/>
          </a:stretch>
        </p:blipFill>
        <p:spPr>
          <a:xfrm>
            <a:off x="11315641" y="571500"/>
            <a:ext cx="304798" cy="304800"/>
          </a:xfrm>
          <a:prstGeom prst="rect">
            <a:avLst/>
          </a:prstGeom>
          <a:solidFill>
            <a:schemeClr val="tx1"/>
          </a:solidFill>
        </p:spPr>
      </p:pic>
      <p:sp>
        <p:nvSpPr>
          <p:cNvPr id="2" name="Text Placeholder 11">
            <a:extLst>
              <a:ext uri="{FF2B5EF4-FFF2-40B4-BE49-F238E27FC236}">
                <a16:creationId xmlns:a16="http://schemas.microsoft.com/office/drawing/2014/main" id="{6ABDA7E5-358C-C4E3-B97C-80CD517C59F0}"/>
              </a:ext>
            </a:extLst>
          </p:cNvPr>
          <p:cNvSpPr>
            <a:spLocks noGrp="1"/>
          </p:cNvSpPr>
          <p:nvPr>
            <p:ph type="body" sz="quarter" idx="10" hasCustomPrompt="1"/>
          </p:nvPr>
        </p:nvSpPr>
        <p:spPr>
          <a:xfrm>
            <a:off x="571497" y="520700"/>
            <a:ext cx="5828541" cy="914400"/>
          </a:xfrm>
          <a:prstGeom prst="rect">
            <a:avLst/>
          </a:prstGeom>
        </p:spPr>
        <p:txBody>
          <a:bodyPr>
            <a:noAutofit/>
          </a:bodyPr>
          <a:lstStyle>
            <a:lvl1pPr marL="0" indent="0" algn="l" defTabSz="457109" rtl="0" eaLnBrk="1" latinLnBrk="0" hangingPunct="1">
              <a:lnSpc>
                <a:spcPts val="7499"/>
              </a:lnSpc>
              <a:buNone/>
              <a:defRPr lang="en-US" sz="7499" b="1" i="0" kern="0" spc="-375" dirty="0" smtClean="0">
                <a:solidFill>
                  <a:schemeClr val="bg1"/>
                </a:solidFill>
                <a:latin typeface="Segoe Sans Display Semibold" pitchFamily="2" charset="0"/>
                <a:ea typeface="Segoe Sans Display Semibold" pitchFamily="2" charset="0"/>
                <a:cs typeface="Segoe Sans Display Semibold" pitchFamily="2" charset="0"/>
              </a:defRPr>
            </a:lvl1pPr>
          </a:lstStyle>
          <a:p>
            <a:pPr lvl="0"/>
            <a:r>
              <a:rPr lang="en-US"/>
              <a:t>Title</a:t>
            </a:r>
          </a:p>
        </p:txBody>
      </p:sp>
      <p:sp>
        <p:nvSpPr>
          <p:cNvPr id="3" name="Text Placeholder 11">
            <a:extLst>
              <a:ext uri="{FF2B5EF4-FFF2-40B4-BE49-F238E27FC236}">
                <a16:creationId xmlns:a16="http://schemas.microsoft.com/office/drawing/2014/main" id="{FC4F10AD-4484-FDFE-2BF0-76076344780B}"/>
              </a:ext>
            </a:extLst>
          </p:cNvPr>
          <p:cNvSpPr>
            <a:spLocks noGrp="1"/>
          </p:cNvSpPr>
          <p:nvPr>
            <p:ph type="body" sz="quarter" idx="11" hasCustomPrompt="1"/>
          </p:nvPr>
        </p:nvSpPr>
        <p:spPr>
          <a:xfrm>
            <a:off x="571497" y="1460500"/>
            <a:ext cx="5828541" cy="914400"/>
          </a:xfrm>
          <a:prstGeom prst="rect">
            <a:avLst/>
          </a:prstGeom>
        </p:spPr>
        <p:txBody>
          <a:bodyPr>
            <a:noAutofit/>
          </a:bodyPr>
          <a:lstStyle>
            <a:lvl1pPr marL="0" indent="0" algn="l" defTabSz="457109" rtl="0" eaLnBrk="1" latinLnBrk="0" hangingPunct="1">
              <a:lnSpc>
                <a:spcPts val="7499"/>
              </a:lnSpc>
              <a:buNone/>
              <a:defRPr lang="en-US" sz="7499" b="1" i="0" kern="0" spc="-375" dirty="0" smtClean="0">
                <a:solidFill>
                  <a:schemeClr val="bg2"/>
                </a:solidFill>
                <a:latin typeface="Segoe Sans Display Semibold" pitchFamily="2" charset="0"/>
                <a:ea typeface="Segoe Sans Display Semibold" pitchFamily="2" charset="0"/>
                <a:cs typeface="Segoe Sans Display Semibold" pitchFamily="2" charset="0"/>
              </a:defRPr>
            </a:lvl1pPr>
          </a:lstStyle>
          <a:p>
            <a:pPr lvl="0"/>
            <a:r>
              <a:rPr lang="en-US"/>
              <a:t>Subtitle</a:t>
            </a:r>
          </a:p>
        </p:txBody>
      </p:sp>
    </p:spTree>
    <p:extLst>
      <p:ext uri="{BB962C8B-B14F-4D97-AF65-F5344CB8AC3E}">
        <p14:creationId xmlns:p14="http://schemas.microsoft.com/office/powerpoint/2010/main" val="1954754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5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324325367"/>
      </p:ext>
    </p:extLst>
  </p:cSld>
  <p:clrMap bg1="lt1" tx1="dk1" bg2="lt2" tx2="dk2" accent1="accent1" accent2="accent2" accent3="accent3" accent4="accent4" accent5="accent5" accent6="accent6" hlink="hlink" folHlink="folHlink"/>
  <p:sldLayoutIdLst>
    <p:sldLayoutId id="2147483719" r:id="rId1"/>
    <p:sldLayoutId id="2147484298" r:id="rId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336136381"/>
      </p:ext>
    </p:extLst>
  </p:cSld>
  <p:clrMap bg1="lt1" tx1="dk1" bg2="lt2" tx2="dk2" accent1="accent1" accent2="accent2" accent3="accent3" accent4="accent4" accent5="accent5" accent6="accent6" hlink="hlink" folHlink="folHlink"/>
  <p:sldLayoutIdLst>
    <p:sldLayoutId id="2147484293"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Placeholder 6">
            <a:extLst>
              <a:ext uri="{FF2B5EF4-FFF2-40B4-BE49-F238E27FC236}">
                <a16:creationId xmlns:a16="http://schemas.microsoft.com/office/drawing/2014/main" id="{07364A6F-B735-C0A5-F4C2-529BF2E4D667}"/>
              </a:ext>
            </a:extLst>
          </p:cNvPr>
          <p:cNvSpPr>
            <a:spLocks noGrp="1"/>
          </p:cNvSpPr>
          <p:nvPr>
            <p:ph type="title"/>
          </p:nvPr>
        </p:nvSpPr>
        <p:spPr>
          <a:xfrm>
            <a:off x="525897" y="623849"/>
            <a:ext cx="10515818" cy="560426"/>
          </a:xfrm>
          <a:prstGeom prst="rect">
            <a:avLst/>
          </a:prstGeom>
        </p:spPr>
        <p:txBody>
          <a:bodyPr vert="horz" lIns="91440" tIns="45720" rIns="91440" bIns="45720" rtlCol="0" anchor="ctr">
            <a:noAutofit/>
          </a:bodyPr>
          <a:lstStyle/>
          <a:p>
            <a:r>
              <a:rPr lang="en-US"/>
              <a:t>Click to edit Master title style</a:t>
            </a:r>
          </a:p>
        </p:txBody>
      </p:sp>
      <p:sp>
        <p:nvSpPr>
          <p:cNvPr id="9" name="Text Placeholder 6">
            <a:extLst>
              <a:ext uri="{FF2B5EF4-FFF2-40B4-BE49-F238E27FC236}">
                <a16:creationId xmlns:a16="http://schemas.microsoft.com/office/drawing/2014/main" id="{48227E51-5187-8E8F-9867-60BE59439E76}"/>
              </a:ext>
            </a:extLst>
          </p:cNvPr>
          <p:cNvSpPr>
            <a:spLocks noGrp="1"/>
          </p:cNvSpPr>
          <p:nvPr>
            <p:ph type="body" idx="1"/>
          </p:nvPr>
        </p:nvSpPr>
        <p:spPr>
          <a:xfrm>
            <a:off x="525897" y="2009620"/>
            <a:ext cx="10515818" cy="18431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14189624"/>
      </p:ext>
    </p:extLst>
  </p:cSld>
  <p:clrMap bg1="lt1" tx1="dk1" bg2="lt2" tx2="dk2" accent1="accent1" accent2="accent2" accent3="accent3" accent4="accent4" accent5="accent5" accent6="accent6" hlink="hlink" folHlink="folHlink"/>
  <p:sldLayoutIdLst>
    <p:sldLayoutId id="2147484297" r:id="rId1"/>
  </p:sldLayoutIdLst>
  <p:hf sldNum="0" hdr="0" ftr="0" dt="0"/>
  <p:txStyles>
    <p:titleStyle>
      <a:lvl1pPr algn="l" defTabSz="457109" rtl="0" eaLnBrk="1" latinLnBrk="0" hangingPunct="1">
        <a:spcBef>
          <a:spcPct val="0"/>
        </a:spcBef>
        <a:buNone/>
        <a:defRPr sz="4999" b="1" i="0" kern="0" spc="-200" baseline="0">
          <a:solidFill>
            <a:schemeClr val="bg1"/>
          </a:solidFill>
          <a:latin typeface="Segoe Sans Display Semibold" pitchFamily="2" charset="0"/>
          <a:ea typeface="+mj-ea"/>
          <a:cs typeface="Segoe Sans Display Semibold" pitchFamily="2" charset="0"/>
        </a:defRPr>
      </a:lvl1pPr>
    </p:titleStyle>
    <p:bodyStyle>
      <a:lvl1pPr marL="0" indent="0" algn="l" defTabSz="457109" rtl="0" eaLnBrk="1" latinLnBrk="0" hangingPunct="1">
        <a:lnSpc>
          <a:spcPct val="100000"/>
        </a:lnSpc>
        <a:spcBef>
          <a:spcPts val="336"/>
        </a:spcBef>
        <a:buFont typeface="Arial" panose="020B0604020202020204" pitchFamily="34" charset="0"/>
        <a:buNone/>
        <a:defRPr sz="2999" b="1" i="0" kern="0" spc="-50" baseline="0">
          <a:solidFill>
            <a:schemeClr val="bg1"/>
          </a:solidFill>
          <a:latin typeface="Segoe Sans Display Semibold" pitchFamily="2" charset="0"/>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1" i="0" kern="0" spc="-50" baseline="0">
          <a:solidFill>
            <a:schemeClr val="bg1"/>
          </a:solidFill>
          <a:latin typeface="Segoe Sans Display Semibold" pitchFamily="2" charset="0"/>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1" i="0" kern="0" spc="0" baseline="0">
          <a:solidFill>
            <a:schemeClr val="bg1"/>
          </a:solidFill>
          <a:latin typeface="Segoe Sans Display Semibold" pitchFamily="2" charset="0"/>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1" i="0" kern="0" spc="0" baseline="0">
          <a:solidFill>
            <a:schemeClr val="bg1"/>
          </a:solidFill>
          <a:latin typeface="Segoe Sans Display Semibold" pitchFamily="2" charset="0"/>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1" i="0" kern="0" spc="0" baseline="0">
          <a:solidFill>
            <a:schemeClr val="bg1"/>
          </a:solidFill>
          <a:latin typeface="Segoe Sans Display Semibold" pitchFamily="2" charset="0"/>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1" i="0" kern="0" spc="0" baseline="0">
          <a:solidFill>
            <a:schemeClr val="bg1"/>
          </a:solidFill>
          <a:latin typeface="Segoe Sans Display Semibold" pitchFamily="2" charset="0"/>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learn.microsoft.com/en-us/agent-framework/overview/?pivots=programming-language-python" TargetMode="External"/><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52038E-AF1F-921C-2E4B-D6B5FAA5AA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022812A-D4E7-E161-5A74-D60491CA85BB}"/>
              </a:ext>
            </a:extLst>
          </p:cNvPr>
          <p:cNvSpPr txBox="1"/>
          <p:nvPr/>
        </p:nvSpPr>
        <p:spPr>
          <a:xfrm>
            <a:off x="9676141" y="8381802"/>
            <a:ext cx="184731" cy="230832"/>
          </a:xfrm>
          <a:prstGeom prst="rect">
            <a:avLst/>
          </a:prstGeom>
          <a:noFill/>
        </p:spPr>
        <p:txBody>
          <a:bodyPr wrap="none" rtlCol="0">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4" name="Title 7">
            <a:extLst>
              <a:ext uri="{FF2B5EF4-FFF2-40B4-BE49-F238E27FC236}">
                <a16:creationId xmlns:a16="http://schemas.microsoft.com/office/drawing/2014/main" id="{68D289B0-331E-84AD-868D-72818C5F5442}"/>
              </a:ext>
            </a:extLst>
          </p:cNvPr>
          <p:cNvSpPr txBox="1">
            <a:spLocks/>
          </p:cNvSpPr>
          <p:nvPr/>
        </p:nvSpPr>
        <p:spPr>
          <a:xfrm>
            <a:off x="584200" y="2311400"/>
            <a:ext cx="10414000" cy="1841500"/>
          </a:xfrm>
          <a:prstGeom prst="rect">
            <a:avLst/>
          </a:prstGeom>
        </p:spPr>
        <p:txBody>
          <a:bodyPr lIns="91440" tIns="45720" rIns="91440" bIns="45720" anchor="t"/>
          <a:lstStyle>
            <a:lvl1pPr algn="l" defTabSz="457109" rtl="0" eaLnBrk="1" latinLnBrk="0" hangingPunct="1">
              <a:spcBef>
                <a:spcPct val="0"/>
              </a:spcBef>
              <a:buNone/>
              <a:defRPr sz="4999" b="1" i="0" kern="0" spc="-200" baseline="0">
                <a:solidFill>
                  <a:schemeClr val="bg1"/>
                </a:solidFill>
                <a:latin typeface="Segoe Sans Display Semibold" pitchFamily="2" charset="0"/>
                <a:ea typeface="+mj-ea"/>
                <a:cs typeface="Segoe Sans Display Semibold" pitchFamily="2" charset="0"/>
              </a:defRPr>
            </a:lvl1pPr>
          </a:lstStyle>
          <a:p>
            <a:pPr marL="0" marR="0" lvl="0" indent="0" algn="l" defTabSz="457109" rtl="0" eaLnBrk="1" fontAlgn="auto" latinLnBrk="0" hangingPunct="1">
              <a:lnSpc>
                <a:spcPct val="100000"/>
              </a:lnSpc>
              <a:spcBef>
                <a:spcPct val="0"/>
              </a:spcBef>
              <a:spcAft>
                <a:spcPts val="0"/>
              </a:spcAft>
              <a:buClrTx/>
              <a:buSzTx/>
              <a:buFontTx/>
              <a:buNone/>
              <a:tabLst/>
              <a:defRPr/>
            </a:pPr>
            <a:r>
              <a:rPr kumimoji="0" lang="en-US" sz="4600" b="1" i="0" u="none" strike="noStrike" kern="0" cap="none" spc="-200" normalizeH="0" baseline="0" noProof="0" dirty="0">
                <a:ln>
                  <a:noFill/>
                </a:ln>
                <a:solidFill>
                  <a:srgbClr val="FFFFFF"/>
                </a:solidFill>
                <a:effectLst/>
                <a:uLnTx/>
                <a:uFillTx/>
                <a:latin typeface="Segoe Sans Display Semibold"/>
                <a:ea typeface="+mj-ea"/>
                <a:cs typeface="Segoe Sans Text"/>
              </a:rPr>
              <a:t>Microsoft</a:t>
            </a:r>
          </a:p>
          <a:p>
            <a:pPr marL="0" marR="0" lvl="0" indent="0" algn="l" defTabSz="457109" rtl="0" eaLnBrk="1" fontAlgn="auto" latinLnBrk="0" hangingPunct="1">
              <a:lnSpc>
                <a:spcPct val="100000"/>
              </a:lnSpc>
              <a:spcBef>
                <a:spcPct val="0"/>
              </a:spcBef>
              <a:spcAft>
                <a:spcPts val="0"/>
              </a:spcAft>
              <a:buClrTx/>
              <a:buSzTx/>
              <a:buFontTx/>
              <a:buNone/>
              <a:tabLst/>
              <a:defRPr/>
            </a:pPr>
            <a:r>
              <a:rPr kumimoji="0" lang="en-US" sz="4600" b="1" i="0" u="none" strike="noStrike" kern="0" cap="none" spc="-200" normalizeH="0" baseline="0" noProof="0" dirty="0">
                <a:ln>
                  <a:noFill/>
                </a:ln>
                <a:solidFill>
                  <a:srgbClr val="FFFFFF"/>
                </a:solidFill>
                <a:effectLst/>
                <a:uLnTx/>
                <a:uFillTx/>
                <a:latin typeface="Segoe Sans Display Semibold"/>
                <a:ea typeface="+mj-ea"/>
                <a:cs typeface="Segoe Sans Text"/>
              </a:rPr>
              <a:t>Agent Framework</a:t>
            </a:r>
            <a:endParaRPr kumimoji="0" lang="en-US" sz="4600" b="1" i="0" u="none" strike="noStrike" kern="0" cap="none" spc="-200" normalizeH="0" baseline="0" noProof="0" dirty="0">
              <a:ln>
                <a:noFill/>
              </a:ln>
              <a:solidFill>
                <a:srgbClr val="FFFFFF"/>
              </a:solidFill>
              <a:effectLst/>
              <a:uLnTx/>
              <a:uFillTx/>
              <a:latin typeface="Segoe Sans Display Semibold" pitchFamily="2" charset="0"/>
              <a:ea typeface="+mj-ea"/>
              <a:cs typeface="Segoe Sans Text"/>
            </a:endParaRPr>
          </a:p>
        </p:txBody>
      </p:sp>
      <p:pic>
        <p:nvPicPr>
          <p:cNvPr id="10" name="Seismic-Barcode" descr="3000109KM" title="Seismic-Barcode"/>
          <p:cNvPicPr>
            <a:picLocks noChangeAspect="1"/>
          </p:cNvPicPr>
          <p:nvPr/>
        </p:nvPicPr>
        <p:blipFill>
          <a:blip r:embed="rId4"/>
          <a:stretch>
            <a:fillRect/>
          </a:stretch>
        </p:blipFill>
        <p:spPr>
          <a:xfrm>
            <a:off x="0" y="6800850"/>
            <a:ext cx="12192000" cy="57150"/>
          </a:xfrm>
          <a:prstGeom prst="rect">
            <a:avLst/>
          </a:prstGeom>
        </p:spPr>
      </p:pic>
      <p:sp>
        <p:nvSpPr>
          <p:cNvPr id="2" name="Rectangle 1">
            <a:extLst>
              <a:ext uri="{FF2B5EF4-FFF2-40B4-BE49-F238E27FC236}">
                <a16:creationId xmlns:a16="http://schemas.microsoft.com/office/drawing/2014/main" id="{9721E40D-31A2-F455-5999-45018E28154C}"/>
              </a:ext>
            </a:extLst>
          </p:cNvPr>
          <p:cNvSpPr/>
          <p:nvPr/>
        </p:nvSpPr>
        <p:spPr>
          <a:xfrm>
            <a:off x="508000" y="4191000"/>
            <a:ext cx="10769600" cy="774700"/>
          </a:xfrm>
          <a:prstGeom prst="rect">
            <a:avLst/>
          </a:prstGeom>
          <a:solidFill>
            <a:srgbClr val="000000">
              <a:alpha val="7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EC4E5C8-5FEC-7EEF-C628-6B49EC64B94D}"/>
              </a:ext>
            </a:extLst>
          </p:cNvPr>
          <p:cNvSpPr/>
          <p:nvPr/>
        </p:nvSpPr>
        <p:spPr>
          <a:xfrm>
            <a:off x="0" y="6794500"/>
            <a:ext cx="12192000" cy="63500"/>
          </a:xfrm>
          <a:prstGeom prst="rect">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947AEE-713E-26B9-D1B2-B038497BC671}"/>
              </a:ext>
            </a:extLst>
          </p:cNvPr>
          <p:cNvSpPr txBox="1"/>
          <p:nvPr/>
        </p:nvSpPr>
        <p:spPr>
          <a:xfrm>
            <a:off x="609600" y="4292599"/>
            <a:ext cx="10287000" cy="571500"/>
          </a:xfrm>
          <a:prstGeom prst="rect">
            <a:avLst/>
          </a:prstGeom>
          <a:noFill/>
        </p:spPr>
        <p:txBody>
          <a:bodyPr vert="horz" wrap="square" lIns="0" tIns="0" rIns="0" bIns="0" rtlCol="0">
            <a:noAutofit/>
          </a:bodyPr>
          <a:lstStyle/>
          <a:p>
            <a:pPr>
              <a:spcAft>
                <a:spcPts val="300"/>
              </a:spcAft>
            </a:pPr>
            <a:r>
              <a:rPr lang="en-US" b="1" dirty="0">
                <a:solidFill>
                  <a:schemeClr val="bg1"/>
                </a:solidFill>
              </a:rPr>
              <a:t>Building agents and workflows with Microsoft Agent Framework</a:t>
            </a:r>
            <a:endParaRPr lang="en-US" sz="2600" dirty="0">
              <a:solidFill>
                <a:schemeClr val="bg1"/>
              </a:solidFill>
              <a:latin typeface="Segoe UI" panose="020B0502040204020203" pitchFamily="34" charset="0"/>
            </a:endParaRPr>
          </a:p>
        </p:txBody>
      </p:sp>
      <p:sp>
        <p:nvSpPr>
          <p:cNvPr id="8" name="TextBox 7">
            <a:extLst>
              <a:ext uri="{FF2B5EF4-FFF2-40B4-BE49-F238E27FC236}">
                <a16:creationId xmlns:a16="http://schemas.microsoft.com/office/drawing/2014/main" id="{E0EAADBC-588F-AB3D-F1DE-3110A8DAE6E1}"/>
              </a:ext>
            </a:extLst>
          </p:cNvPr>
          <p:cNvSpPr txBox="1"/>
          <p:nvPr/>
        </p:nvSpPr>
        <p:spPr>
          <a:xfrm>
            <a:off x="609600" y="6362700"/>
            <a:ext cx="10160000" cy="254000"/>
          </a:xfrm>
          <a:prstGeom prst="rect">
            <a:avLst/>
          </a:prstGeom>
          <a:noFill/>
        </p:spPr>
        <p:txBody>
          <a:bodyPr vert="horz" wrap="square" lIns="0" tIns="0" rIns="0" bIns="0" rtlCol="0">
            <a:noAutofit/>
          </a:bodyPr>
          <a:lstStyle/>
          <a:p>
            <a:pPr>
              <a:spcAft>
                <a:spcPts val="300"/>
              </a:spcAft>
            </a:pPr>
            <a:r>
              <a:rPr lang="en-US" sz="1100" dirty="0">
                <a:solidFill>
                  <a:srgbClr val="DDDDDD"/>
                </a:solidFill>
                <a:latin typeface="Segoe UI" panose="020B0502040204020203" pitchFamily="34" charset="0"/>
              </a:rPr>
              <a:t>OCTOBER 2026  |  Anil Dwarakanath | Enterprise Solutions Architect – Cloud &amp; AI | Microsoft</a:t>
            </a:r>
          </a:p>
        </p:txBody>
      </p:sp>
    </p:spTree>
    <p:extLst>
      <p:ext uri="{BB962C8B-B14F-4D97-AF65-F5344CB8AC3E}">
        <p14:creationId xmlns:p14="http://schemas.microsoft.com/office/powerpoint/2010/main" val="1957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82C5EC-6663-4C45-6C5B-026EC2E97171}"/>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Agenda | What we will cover</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96A827C1-1327-2FA5-2114-B3E87A728557}"/>
              </a:ext>
            </a:extLst>
          </p:cNvPr>
          <p:cNvSpPr txBox="1"/>
          <p:nvPr/>
        </p:nvSpPr>
        <p:spPr>
          <a:xfrm>
            <a:off x="609600" y="1193799"/>
            <a:ext cx="10985500" cy="584200"/>
          </a:xfrm>
          <a:prstGeom prst="rect">
            <a:avLst/>
          </a:prstGeom>
          <a:noFill/>
        </p:spPr>
        <p:txBody>
          <a:bodyPr vert="horz" wrap="square" lIns="0" tIns="0" rIns="0" bIns="0" rtlCol="0">
            <a:noAutofit/>
          </a:bodyPr>
          <a:lstStyle/>
          <a:p>
            <a:pPr>
              <a:spcAft>
                <a:spcPts val="300"/>
              </a:spcAft>
            </a:pPr>
            <a:r>
              <a:rPr lang="en-US" dirty="0"/>
              <a:t>Microsoft Agent Framework: capabilities, demos, and enterprise considerations</a:t>
            </a:r>
            <a:endParaRPr lang="en-US" sz="1700" dirty="0">
              <a:solidFill>
                <a:srgbClr val="545460"/>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C94376B1-CF4C-1790-C393-14D363CF3CED}"/>
              </a:ext>
            </a:extLst>
          </p:cNvPr>
          <p:cNvSpPr/>
          <p:nvPr/>
        </p:nvSpPr>
        <p:spPr bwMode="auto">
          <a:xfrm>
            <a:off x="584200" y="201168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5FA0C17E-AE11-4908-D93B-4AF71C4AEA4F}"/>
              </a:ext>
            </a:extLst>
          </p:cNvPr>
          <p:cNvSpPr txBox="1"/>
          <p:nvPr/>
        </p:nvSpPr>
        <p:spPr>
          <a:xfrm>
            <a:off x="749300" y="2322067"/>
            <a:ext cx="469900" cy="381000"/>
          </a:xfrm>
          <a:prstGeom prst="rect">
            <a:avLst/>
          </a:prstGeom>
          <a:noFill/>
        </p:spPr>
        <p:txBody>
          <a:bodyPr vert="horz" wrap="square" lIns="0" tIns="0" rIns="0" bIns="0" rtlCol="0">
            <a:noAutofit/>
          </a:bodyPr>
          <a:lstStyle/>
          <a:p>
            <a:pPr algn="l">
              <a:spcAft>
                <a:spcPts val="300"/>
              </a:spcAft>
            </a:pPr>
            <a:r>
              <a:rPr lang="en-US" sz="2100" b="1">
                <a:solidFill>
                  <a:srgbClr val="8055C8"/>
                </a:solidFill>
                <a:latin typeface="Segoe UI" panose="020B0502040204020203" pitchFamily="34" charset="0"/>
              </a:rPr>
              <a:t>01</a:t>
            </a:r>
            <a:endParaRPr lang="en-US" sz="2100" b="1" dirty="0" err="1">
              <a:solidFill>
                <a:srgbClr val="8055C8"/>
              </a:solidFill>
              <a:latin typeface="Segoe UI" panose="020B0502040204020203" pitchFamily="34" charset="0"/>
            </a:endParaRPr>
          </a:p>
        </p:txBody>
      </p:sp>
      <p:sp>
        <p:nvSpPr>
          <p:cNvPr id="6" name="TextBox 5">
            <a:extLst>
              <a:ext uri="{FF2B5EF4-FFF2-40B4-BE49-F238E27FC236}">
                <a16:creationId xmlns:a16="http://schemas.microsoft.com/office/drawing/2014/main" id="{61BC176F-BD0B-39F1-4E7E-9E27F448CB8F}"/>
              </a:ext>
            </a:extLst>
          </p:cNvPr>
          <p:cNvSpPr txBox="1"/>
          <p:nvPr/>
        </p:nvSpPr>
        <p:spPr>
          <a:xfrm>
            <a:off x="1308100" y="2233167"/>
            <a:ext cx="4445000" cy="3429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Framework overview</a:t>
            </a:r>
            <a:endParaRPr lang="en-US" b="1" dirty="0" err="1">
              <a:solidFill>
                <a:srgbClr val="0078D4"/>
              </a:solidFill>
              <a:latin typeface="Segoe UI" panose="020B0502040204020203" pitchFamily="34" charset="0"/>
            </a:endParaRPr>
          </a:p>
        </p:txBody>
      </p:sp>
      <p:sp>
        <p:nvSpPr>
          <p:cNvPr id="7" name="TextBox 6">
            <a:extLst>
              <a:ext uri="{FF2B5EF4-FFF2-40B4-BE49-F238E27FC236}">
                <a16:creationId xmlns:a16="http://schemas.microsoft.com/office/drawing/2014/main" id="{5549B940-8F7C-8EFB-95E7-D2E63475E0EB}"/>
              </a:ext>
            </a:extLst>
          </p:cNvPr>
          <p:cNvSpPr txBox="1"/>
          <p:nvPr/>
        </p:nvSpPr>
        <p:spPr>
          <a:xfrm>
            <a:off x="1308100" y="257606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Agents, workflows, harnesses, and integrations</a:t>
            </a:r>
            <a:endParaRPr lang="en-US" sz="1250" dirty="0" err="1">
              <a:solidFill>
                <a:srgbClr val="545460"/>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D06D4DB3-B897-F37F-BE23-5002C63288CF}"/>
              </a:ext>
            </a:extLst>
          </p:cNvPr>
          <p:cNvSpPr/>
          <p:nvPr/>
        </p:nvSpPr>
        <p:spPr bwMode="auto">
          <a:xfrm>
            <a:off x="584200" y="329184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8DA436AD-F639-BD8A-8B46-75E22A4CCAB4}"/>
              </a:ext>
            </a:extLst>
          </p:cNvPr>
          <p:cNvSpPr txBox="1"/>
          <p:nvPr/>
        </p:nvSpPr>
        <p:spPr>
          <a:xfrm>
            <a:off x="749300" y="3602227"/>
            <a:ext cx="469900" cy="381000"/>
          </a:xfrm>
          <a:prstGeom prst="rect">
            <a:avLst/>
          </a:prstGeom>
          <a:noFill/>
        </p:spPr>
        <p:txBody>
          <a:bodyPr vert="horz" wrap="square" lIns="0" tIns="0" rIns="0" bIns="0" rtlCol="0">
            <a:noAutofit/>
          </a:bodyPr>
          <a:lstStyle/>
          <a:p>
            <a:pPr algn="l">
              <a:spcAft>
                <a:spcPts val="300"/>
              </a:spcAft>
            </a:pPr>
            <a:r>
              <a:rPr lang="en-US" sz="2100" b="1">
                <a:solidFill>
                  <a:srgbClr val="8055C8"/>
                </a:solidFill>
                <a:latin typeface="Segoe UI" panose="020B0502040204020203" pitchFamily="34" charset="0"/>
              </a:rPr>
              <a:t>02</a:t>
            </a:r>
            <a:endParaRPr lang="en-US" sz="2100" b="1" dirty="0" err="1">
              <a:solidFill>
                <a:srgbClr val="8055C8"/>
              </a:solidFill>
              <a:latin typeface="Segoe UI" panose="020B0502040204020203" pitchFamily="34" charset="0"/>
            </a:endParaRPr>
          </a:p>
        </p:txBody>
      </p:sp>
      <p:sp>
        <p:nvSpPr>
          <p:cNvPr id="10" name="TextBox 9">
            <a:extLst>
              <a:ext uri="{FF2B5EF4-FFF2-40B4-BE49-F238E27FC236}">
                <a16:creationId xmlns:a16="http://schemas.microsoft.com/office/drawing/2014/main" id="{C5B5912F-4E39-0B4D-DBDC-39062165BD3F}"/>
              </a:ext>
            </a:extLst>
          </p:cNvPr>
          <p:cNvSpPr txBox="1"/>
          <p:nvPr/>
        </p:nvSpPr>
        <p:spPr>
          <a:xfrm>
            <a:off x="1308100" y="3513327"/>
            <a:ext cx="4445000" cy="3429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Build your first agent</a:t>
            </a:r>
            <a:endParaRPr lang="en-US" b="1" dirty="0" err="1">
              <a:solidFill>
                <a:srgbClr val="0078D4"/>
              </a:solidFill>
              <a:latin typeface="Segoe UI" panose="020B0502040204020203" pitchFamily="34" charset="0"/>
            </a:endParaRPr>
          </a:p>
        </p:txBody>
      </p:sp>
      <p:sp>
        <p:nvSpPr>
          <p:cNvPr id="11" name="TextBox 10">
            <a:extLst>
              <a:ext uri="{FF2B5EF4-FFF2-40B4-BE49-F238E27FC236}">
                <a16:creationId xmlns:a16="http://schemas.microsoft.com/office/drawing/2014/main" id="{DE02B16F-B23C-D5EB-89FA-804F55D87469}"/>
              </a:ext>
            </a:extLst>
          </p:cNvPr>
          <p:cNvSpPr txBox="1"/>
          <p:nvPr/>
        </p:nvSpPr>
        <p:spPr>
          <a:xfrm>
            <a:off x="1308100" y="385622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Model client, agent, history, and OpenTelemetry</a:t>
            </a:r>
            <a:endParaRPr lang="en-US" sz="1250" dirty="0" err="1">
              <a:solidFill>
                <a:srgbClr val="545460"/>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05A66842-88E5-8F46-92E2-F099137F947B}"/>
              </a:ext>
            </a:extLst>
          </p:cNvPr>
          <p:cNvSpPr/>
          <p:nvPr/>
        </p:nvSpPr>
        <p:spPr bwMode="auto">
          <a:xfrm>
            <a:off x="584200" y="457200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3" name="TextBox 12">
            <a:extLst>
              <a:ext uri="{FF2B5EF4-FFF2-40B4-BE49-F238E27FC236}">
                <a16:creationId xmlns:a16="http://schemas.microsoft.com/office/drawing/2014/main" id="{F50984EE-06AC-6484-68FC-43FDE1D3645A}"/>
              </a:ext>
            </a:extLst>
          </p:cNvPr>
          <p:cNvSpPr txBox="1"/>
          <p:nvPr/>
        </p:nvSpPr>
        <p:spPr>
          <a:xfrm>
            <a:off x="749300" y="4882387"/>
            <a:ext cx="469900" cy="381000"/>
          </a:xfrm>
          <a:prstGeom prst="rect">
            <a:avLst/>
          </a:prstGeom>
          <a:noFill/>
        </p:spPr>
        <p:txBody>
          <a:bodyPr vert="horz" wrap="square" lIns="0" tIns="0" rIns="0" bIns="0" rtlCol="0">
            <a:noAutofit/>
          </a:bodyPr>
          <a:lstStyle/>
          <a:p>
            <a:pPr algn="l">
              <a:spcAft>
                <a:spcPts val="300"/>
              </a:spcAft>
            </a:pPr>
            <a:r>
              <a:rPr lang="en-US" sz="2100" b="1">
                <a:solidFill>
                  <a:srgbClr val="8055C8"/>
                </a:solidFill>
                <a:latin typeface="Segoe UI" panose="020B0502040204020203" pitchFamily="34" charset="0"/>
              </a:rPr>
              <a:t>03</a:t>
            </a:r>
            <a:endParaRPr lang="en-US" sz="2100" b="1" dirty="0" err="1">
              <a:solidFill>
                <a:srgbClr val="8055C8"/>
              </a:solidFill>
              <a:latin typeface="Segoe UI" panose="020B0502040204020203" pitchFamily="34" charset="0"/>
            </a:endParaRPr>
          </a:p>
        </p:txBody>
      </p:sp>
      <p:sp>
        <p:nvSpPr>
          <p:cNvPr id="14" name="TextBox 13">
            <a:extLst>
              <a:ext uri="{FF2B5EF4-FFF2-40B4-BE49-F238E27FC236}">
                <a16:creationId xmlns:a16="http://schemas.microsoft.com/office/drawing/2014/main" id="{24CAA929-13B8-DDE2-3C4B-29A3FFDA124B}"/>
              </a:ext>
            </a:extLst>
          </p:cNvPr>
          <p:cNvSpPr txBox="1"/>
          <p:nvPr/>
        </p:nvSpPr>
        <p:spPr>
          <a:xfrm>
            <a:off x="1308100" y="4793487"/>
            <a:ext cx="4445000" cy="3429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Use case: Recovery Workflow</a:t>
            </a:r>
            <a:endParaRPr lang="en-US" b="1" dirty="0" err="1">
              <a:solidFill>
                <a:srgbClr val="0078D4"/>
              </a:solidFill>
              <a:latin typeface="Segoe UI" panose="020B0502040204020203" pitchFamily="34" charset="0"/>
            </a:endParaRPr>
          </a:p>
        </p:txBody>
      </p:sp>
      <p:sp>
        <p:nvSpPr>
          <p:cNvPr id="15" name="TextBox 14">
            <a:extLst>
              <a:ext uri="{FF2B5EF4-FFF2-40B4-BE49-F238E27FC236}">
                <a16:creationId xmlns:a16="http://schemas.microsoft.com/office/drawing/2014/main" id="{51501DAB-D43E-6A65-0695-5AF63586EBE1}"/>
              </a:ext>
            </a:extLst>
          </p:cNvPr>
          <p:cNvSpPr txBox="1"/>
          <p:nvPr/>
        </p:nvSpPr>
        <p:spPr>
          <a:xfrm>
            <a:off x="1308100" y="513638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Parallel specialists and evidence consolidation</a:t>
            </a:r>
            <a:endParaRPr lang="en-US" sz="1250" dirty="0" err="1">
              <a:solidFill>
                <a:srgbClr val="54546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2A79521C-5E69-7C89-218D-32646C7038C2}"/>
              </a:ext>
            </a:extLst>
          </p:cNvPr>
          <p:cNvSpPr/>
          <p:nvPr/>
        </p:nvSpPr>
        <p:spPr bwMode="auto">
          <a:xfrm>
            <a:off x="6235700" y="201168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2D34B659-CABA-5593-3024-5F3B9CAF7E5C}"/>
              </a:ext>
            </a:extLst>
          </p:cNvPr>
          <p:cNvSpPr txBox="1"/>
          <p:nvPr/>
        </p:nvSpPr>
        <p:spPr>
          <a:xfrm>
            <a:off x="6400800" y="2322067"/>
            <a:ext cx="469900" cy="381000"/>
          </a:xfrm>
          <a:prstGeom prst="rect">
            <a:avLst/>
          </a:prstGeom>
          <a:noFill/>
        </p:spPr>
        <p:txBody>
          <a:bodyPr vert="horz" wrap="square" lIns="0" tIns="0" rIns="0" bIns="0" rtlCol="0">
            <a:noAutofit/>
          </a:bodyPr>
          <a:lstStyle/>
          <a:p>
            <a:pPr algn="l">
              <a:spcAft>
                <a:spcPts val="300"/>
              </a:spcAft>
            </a:pPr>
            <a:r>
              <a:rPr lang="en-US" sz="2100" b="1">
                <a:solidFill>
                  <a:srgbClr val="8055C8"/>
                </a:solidFill>
                <a:latin typeface="Segoe UI" panose="020B0502040204020203" pitchFamily="34" charset="0"/>
              </a:rPr>
              <a:t>04</a:t>
            </a:r>
            <a:endParaRPr lang="en-US" sz="2100" b="1" dirty="0" err="1">
              <a:solidFill>
                <a:srgbClr val="8055C8"/>
              </a:solidFill>
              <a:latin typeface="Segoe UI" panose="020B0502040204020203" pitchFamily="34" charset="0"/>
            </a:endParaRPr>
          </a:p>
        </p:txBody>
      </p:sp>
      <p:sp>
        <p:nvSpPr>
          <p:cNvPr id="22" name="TextBox 21">
            <a:extLst>
              <a:ext uri="{FF2B5EF4-FFF2-40B4-BE49-F238E27FC236}">
                <a16:creationId xmlns:a16="http://schemas.microsoft.com/office/drawing/2014/main" id="{A824A32E-F147-1C98-59F4-8BC68DEFB4E4}"/>
              </a:ext>
            </a:extLst>
          </p:cNvPr>
          <p:cNvSpPr txBox="1"/>
          <p:nvPr/>
        </p:nvSpPr>
        <p:spPr>
          <a:xfrm>
            <a:off x="6959600" y="2233167"/>
            <a:ext cx="4445000" cy="342900"/>
          </a:xfrm>
          <a:prstGeom prst="rect">
            <a:avLst/>
          </a:prstGeom>
          <a:noFill/>
        </p:spPr>
        <p:txBody>
          <a:bodyPr vert="horz" wrap="square" lIns="0" tIns="0" rIns="0" bIns="0" rtlCol="0">
            <a:noAutofit/>
          </a:bodyPr>
          <a:lstStyle/>
          <a:p>
            <a:pPr algn="l">
              <a:spcAft>
                <a:spcPts val="300"/>
              </a:spcAft>
            </a:pPr>
            <a:r>
              <a:rPr lang="en-US" b="1" dirty="0">
                <a:solidFill>
                  <a:srgbClr val="0078D4"/>
                </a:solidFill>
                <a:latin typeface="Segoe UI" panose="020B0502040204020203" pitchFamily="34" charset="0"/>
              </a:rPr>
              <a:t>Agent harness</a:t>
            </a:r>
          </a:p>
        </p:txBody>
      </p:sp>
      <p:sp>
        <p:nvSpPr>
          <p:cNvPr id="23" name="TextBox 22">
            <a:extLst>
              <a:ext uri="{FF2B5EF4-FFF2-40B4-BE49-F238E27FC236}">
                <a16:creationId xmlns:a16="http://schemas.microsoft.com/office/drawing/2014/main" id="{837387C9-241B-11CF-6B62-76157B6F5E01}"/>
              </a:ext>
            </a:extLst>
          </p:cNvPr>
          <p:cNvSpPr txBox="1"/>
          <p:nvPr/>
        </p:nvSpPr>
        <p:spPr>
          <a:xfrm>
            <a:off x="6959600" y="257606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Planning, memory, and context compaction</a:t>
            </a:r>
            <a:endParaRPr lang="en-US" sz="1250" dirty="0" err="1">
              <a:solidFill>
                <a:srgbClr val="545460"/>
              </a:solidFill>
              <a:latin typeface="Segoe UI" panose="020B0502040204020203" pitchFamily="34" charset="0"/>
            </a:endParaRPr>
          </a:p>
        </p:txBody>
      </p:sp>
      <p:sp>
        <p:nvSpPr>
          <p:cNvPr id="28" name="Rectangle: Rounded Corners 27">
            <a:extLst>
              <a:ext uri="{FF2B5EF4-FFF2-40B4-BE49-F238E27FC236}">
                <a16:creationId xmlns:a16="http://schemas.microsoft.com/office/drawing/2014/main" id="{36E6DD30-1ABB-5F6C-0910-AFC812903135}"/>
              </a:ext>
            </a:extLst>
          </p:cNvPr>
          <p:cNvSpPr/>
          <p:nvPr/>
        </p:nvSpPr>
        <p:spPr bwMode="auto">
          <a:xfrm>
            <a:off x="6235700" y="329184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9" name="TextBox 28">
            <a:extLst>
              <a:ext uri="{FF2B5EF4-FFF2-40B4-BE49-F238E27FC236}">
                <a16:creationId xmlns:a16="http://schemas.microsoft.com/office/drawing/2014/main" id="{6B4C8A33-80F9-E222-69CF-BBA3A55072A4}"/>
              </a:ext>
            </a:extLst>
          </p:cNvPr>
          <p:cNvSpPr txBox="1"/>
          <p:nvPr/>
        </p:nvSpPr>
        <p:spPr>
          <a:xfrm>
            <a:off x="6400800" y="3602227"/>
            <a:ext cx="469900" cy="381000"/>
          </a:xfrm>
          <a:prstGeom prst="rect">
            <a:avLst/>
          </a:prstGeom>
          <a:noFill/>
        </p:spPr>
        <p:txBody>
          <a:bodyPr vert="horz" wrap="square" lIns="0" tIns="0" rIns="0" bIns="0" rtlCol="0">
            <a:noAutofit/>
          </a:bodyPr>
          <a:lstStyle/>
          <a:p>
            <a:pPr algn="l">
              <a:spcAft>
                <a:spcPts val="300"/>
              </a:spcAft>
            </a:pPr>
            <a:r>
              <a:rPr lang="en-US" sz="2100" b="1" dirty="0">
                <a:solidFill>
                  <a:srgbClr val="8055C8"/>
                </a:solidFill>
                <a:latin typeface="Segoe UI" panose="020B0502040204020203" pitchFamily="34" charset="0"/>
              </a:rPr>
              <a:t>05</a:t>
            </a:r>
          </a:p>
        </p:txBody>
      </p:sp>
      <p:sp>
        <p:nvSpPr>
          <p:cNvPr id="30" name="TextBox 29">
            <a:extLst>
              <a:ext uri="{FF2B5EF4-FFF2-40B4-BE49-F238E27FC236}">
                <a16:creationId xmlns:a16="http://schemas.microsoft.com/office/drawing/2014/main" id="{A812CD58-BE6F-4548-C101-DDA85CAF2305}"/>
              </a:ext>
            </a:extLst>
          </p:cNvPr>
          <p:cNvSpPr txBox="1"/>
          <p:nvPr/>
        </p:nvSpPr>
        <p:spPr>
          <a:xfrm>
            <a:off x="6959600" y="3513327"/>
            <a:ext cx="4445000" cy="342900"/>
          </a:xfrm>
          <a:prstGeom prst="rect">
            <a:avLst/>
          </a:prstGeom>
          <a:noFill/>
        </p:spPr>
        <p:txBody>
          <a:bodyPr vert="horz" wrap="square" lIns="0" tIns="0" rIns="0" bIns="0" rtlCol="0">
            <a:noAutofit/>
          </a:bodyPr>
          <a:lstStyle/>
          <a:p>
            <a:pPr algn="l">
              <a:spcAft>
                <a:spcPts val="300"/>
              </a:spcAft>
            </a:pPr>
            <a:r>
              <a:rPr lang="en-US" b="1" dirty="0">
                <a:solidFill>
                  <a:srgbClr val="0078D4"/>
                </a:solidFill>
                <a:latin typeface="Segoe UI" panose="020B0502040204020203" pitchFamily="34" charset="0"/>
              </a:rPr>
              <a:t>Use case: A2A interoperability</a:t>
            </a:r>
          </a:p>
        </p:txBody>
      </p:sp>
      <p:sp>
        <p:nvSpPr>
          <p:cNvPr id="31" name="TextBox 30">
            <a:extLst>
              <a:ext uri="{FF2B5EF4-FFF2-40B4-BE49-F238E27FC236}">
                <a16:creationId xmlns:a16="http://schemas.microsoft.com/office/drawing/2014/main" id="{EAF323CA-A5E7-73DA-6009-E2C12D821155}"/>
              </a:ext>
            </a:extLst>
          </p:cNvPr>
          <p:cNvSpPr txBox="1"/>
          <p:nvPr/>
        </p:nvSpPr>
        <p:spPr>
          <a:xfrm>
            <a:off x="6959600" y="385622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Expose an agent; call it from any A2A client</a:t>
            </a:r>
            <a:endParaRPr lang="en-US" sz="1250" dirty="0" err="1">
              <a:solidFill>
                <a:srgbClr val="545460"/>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3D336D30-F141-4D43-A4B0-1281F51D25BF}"/>
              </a:ext>
            </a:extLst>
          </p:cNvPr>
          <p:cNvSpPr/>
          <p:nvPr/>
        </p:nvSpPr>
        <p:spPr bwMode="auto">
          <a:xfrm>
            <a:off x="6235700" y="4572000"/>
            <a:ext cx="5372100" cy="100584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3" name="TextBox 42">
            <a:extLst>
              <a:ext uri="{FF2B5EF4-FFF2-40B4-BE49-F238E27FC236}">
                <a16:creationId xmlns:a16="http://schemas.microsoft.com/office/drawing/2014/main" id="{2E7BA851-48D7-49DE-8F40-2601238AA817}"/>
              </a:ext>
            </a:extLst>
          </p:cNvPr>
          <p:cNvSpPr txBox="1"/>
          <p:nvPr/>
        </p:nvSpPr>
        <p:spPr>
          <a:xfrm>
            <a:off x="6400800" y="4882387"/>
            <a:ext cx="469900" cy="381000"/>
          </a:xfrm>
          <a:prstGeom prst="rect">
            <a:avLst/>
          </a:prstGeom>
          <a:noFill/>
        </p:spPr>
        <p:txBody>
          <a:bodyPr vert="horz" wrap="square" lIns="0" tIns="0" rIns="0" bIns="0" rtlCol="0">
            <a:noAutofit/>
          </a:bodyPr>
          <a:lstStyle/>
          <a:p>
            <a:pPr algn="l">
              <a:spcAft>
                <a:spcPts val="300"/>
              </a:spcAft>
            </a:pPr>
            <a:r>
              <a:rPr lang="en-US" sz="2100" b="1">
                <a:solidFill>
                  <a:srgbClr val="8055C8"/>
                </a:solidFill>
                <a:latin typeface="Segoe UI" panose="020B0502040204020203" pitchFamily="34" charset="0"/>
              </a:rPr>
              <a:t>06</a:t>
            </a:r>
            <a:endParaRPr lang="en-US" sz="2100" b="1" dirty="0" err="1">
              <a:solidFill>
                <a:srgbClr val="8055C8"/>
              </a:solidFill>
              <a:latin typeface="Segoe UI" panose="020B0502040204020203" pitchFamily="34" charset="0"/>
            </a:endParaRPr>
          </a:p>
        </p:txBody>
      </p:sp>
      <p:sp>
        <p:nvSpPr>
          <p:cNvPr id="44" name="TextBox 43">
            <a:extLst>
              <a:ext uri="{FF2B5EF4-FFF2-40B4-BE49-F238E27FC236}">
                <a16:creationId xmlns:a16="http://schemas.microsoft.com/office/drawing/2014/main" id="{51D3BABE-1DA8-4654-9059-C7770FC42887}"/>
              </a:ext>
            </a:extLst>
          </p:cNvPr>
          <p:cNvSpPr txBox="1"/>
          <p:nvPr/>
        </p:nvSpPr>
        <p:spPr>
          <a:xfrm>
            <a:off x="6959600" y="4793487"/>
            <a:ext cx="4445000" cy="3429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Beyond the demos</a:t>
            </a:r>
            <a:endParaRPr lang="en-US" b="1" dirty="0" err="1">
              <a:solidFill>
                <a:srgbClr val="0078D4"/>
              </a:solidFill>
              <a:latin typeface="Segoe UI" panose="020B0502040204020203" pitchFamily="34" charset="0"/>
            </a:endParaRPr>
          </a:p>
        </p:txBody>
      </p:sp>
      <p:sp>
        <p:nvSpPr>
          <p:cNvPr id="45" name="TextBox 44">
            <a:extLst>
              <a:ext uri="{FF2B5EF4-FFF2-40B4-BE49-F238E27FC236}">
                <a16:creationId xmlns:a16="http://schemas.microsoft.com/office/drawing/2014/main" id="{D53C3287-9DB0-4EAC-AB8F-4A84E685442D}"/>
              </a:ext>
            </a:extLst>
          </p:cNvPr>
          <p:cNvSpPr txBox="1"/>
          <p:nvPr/>
        </p:nvSpPr>
        <p:spPr>
          <a:xfrm>
            <a:off x="6959600" y="5136388"/>
            <a:ext cx="4445000" cy="254000"/>
          </a:xfrm>
          <a:prstGeom prst="rect">
            <a:avLst/>
          </a:prstGeom>
          <a:noFill/>
        </p:spPr>
        <p:txBody>
          <a:bodyPr vert="horz" wrap="square" lIns="0" tIns="0" rIns="0" bIns="0" rtlCol="0">
            <a:noAutofit/>
          </a:bodyPr>
          <a:lstStyle/>
          <a:p>
            <a:pPr algn="l">
              <a:spcAft>
                <a:spcPts val="300"/>
              </a:spcAft>
            </a:pPr>
            <a:r>
              <a:rPr lang="en-US" sz="1250">
                <a:solidFill>
                  <a:srgbClr val="545460"/>
                </a:solidFill>
                <a:latin typeface="Segoe UI" panose="020B0502040204020203" pitchFamily="34" charset="0"/>
              </a:rPr>
              <a:t>MCP, A2A auth, orchestration, state, and approvals</a:t>
            </a:r>
            <a:endParaRPr lang="en-US" sz="1250" dirty="0" err="1">
              <a:solidFill>
                <a:srgbClr val="545460"/>
              </a:solidFill>
              <a:latin typeface="Segoe UI" panose="020B0502040204020203" pitchFamily="34" charset="0"/>
            </a:endParaRPr>
          </a:p>
        </p:txBody>
      </p:sp>
      <p:sp>
        <p:nvSpPr>
          <p:cNvPr id="38" name="TextBox 37">
            <a:extLst>
              <a:ext uri="{FF2B5EF4-FFF2-40B4-BE49-F238E27FC236}">
                <a16:creationId xmlns:a16="http://schemas.microsoft.com/office/drawing/2014/main" id="{6A441C09-AA88-DB1F-DBEC-3A6073011094}"/>
              </a:ext>
            </a:extLst>
          </p:cNvPr>
          <p:cNvSpPr txBox="1"/>
          <p:nvPr/>
        </p:nvSpPr>
        <p:spPr>
          <a:xfrm>
            <a:off x="609600" y="6134100"/>
            <a:ext cx="10972800" cy="304800"/>
          </a:xfrm>
          <a:prstGeom prst="rect">
            <a:avLst/>
          </a:prstGeom>
          <a:noFill/>
        </p:spPr>
        <p:txBody>
          <a:bodyPr vert="horz" wrap="square" lIns="0" tIns="0" rIns="0" bIns="0" rtlCol="0">
            <a:noAutofit/>
          </a:bodyPr>
          <a:lstStyle/>
          <a:p>
            <a:pPr algn="l">
              <a:spcAft>
                <a:spcPts val="300"/>
              </a:spcAft>
            </a:pPr>
            <a:endParaRPr lang="en-US" sz="1050" dirty="0">
              <a:solidFill>
                <a:srgbClr val="545460"/>
              </a:solidFill>
              <a:latin typeface="Segoe UI" panose="020B0502040204020203" pitchFamily="34" charset="0"/>
            </a:endParaRPr>
          </a:p>
        </p:txBody>
      </p:sp>
      <p:sp>
        <p:nvSpPr>
          <p:cNvPr id="39" name="TextBox 38">
            <a:extLst>
              <a:ext uri="{FF2B5EF4-FFF2-40B4-BE49-F238E27FC236}">
                <a16:creationId xmlns:a16="http://schemas.microsoft.com/office/drawing/2014/main" id="{BE1F2F6D-DC68-9108-E77F-9F0A1EFF5BDE}"/>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41" name="SlideNumber">
            <a:extLst>
              <a:ext uri="{FF2B5EF4-FFF2-40B4-BE49-F238E27FC236}">
                <a16:creationId xmlns:a16="http://schemas.microsoft.com/office/drawing/2014/main" id="{04234473-4AA4-EDE1-6B19-7CF7ACF070FE}"/>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02</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92876175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0692E24-AD74-C5F0-D5F4-B6F381193CD3}"/>
              </a:ext>
            </a:extLst>
          </p:cNvPr>
          <p:cNvSpPr/>
          <p:nvPr/>
        </p:nvSpPr>
        <p:spPr bwMode="auto">
          <a:xfrm>
            <a:off x="6858000" y="228600"/>
            <a:ext cx="4445000" cy="4445000"/>
          </a:xfrm>
          <a:prstGeom prst="ellipse">
            <a:avLst/>
          </a:prstGeom>
          <a:solidFill>
            <a:srgbClr val="E5F4FF">
              <a:alpha val="75000"/>
            </a:srgbClr>
          </a:solidFill>
          <a:ln>
            <a:noFill/>
            <a:headEnd type="none" w="med" len="med"/>
            <a:tailEnd type="none" w="med" len="med"/>
          </a:ln>
          <a:effectLst>
            <a:softEdge rad="5715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9F88E3BC-E620-464D-F528-94A54DA9B80E}"/>
              </a:ext>
            </a:extLst>
          </p:cNvPr>
          <p:cNvSpPr/>
          <p:nvPr/>
        </p:nvSpPr>
        <p:spPr bwMode="auto">
          <a:xfrm>
            <a:off x="609600" y="393700"/>
            <a:ext cx="3302000" cy="330200"/>
          </a:xfrm>
          <a:prstGeom prst="roundRect">
            <a:avLst/>
          </a:prstGeom>
          <a:gradFill flip="none" rotWithShape="1">
            <a:gsLst>
              <a:gs pos="0">
                <a:srgbClr val="007AD4"/>
              </a:gs>
              <a:gs pos="100000">
                <a:srgbClr val="C43BC8"/>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0E7341F7-2DA0-B184-B261-489AB60A6FC6}"/>
              </a:ext>
            </a:extLst>
          </p:cNvPr>
          <p:cNvSpPr txBox="1"/>
          <p:nvPr/>
        </p:nvSpPr>
        <p:spPr>
          <a:xfrm>
            <a:off x="609600" y="431800"/>
            <a:ext cx="3302000" cy="307777"/>
          </a:xfrm>
          <a:prstGeom prst="rect">
            <a:avLst/>
          </a:prstGeom>
          <a:noFill/>
        </p:spPr>
        <p:txBody>
          <a:bodyPr vert="horz" wrap="square" lIns="0" tIns="0" rIns="0" bIns="0" rtlCol="0">
            <a:noAutofit/>
          </a:bodyPr>
          <a:lstStyle/>
          <a:p>
            <a:pPr algn="ctr"/>
            <a:r>
              <a:rPr lang="en-US" sz="1200" b="1">
                <a:solidFill>
                  <a:srgbClr val="FFFFFF"/>
                </a:solidFill>
                <a:latin typeface="Segoe UI" panose="020B0502040204020203" pitchFamily="34" charset="0"/>
              </a:rPr>
              <a:t>WHY A FRAMEWORK</a:t>
            </a:r>
            <a:endParaRPr lang="en-US" sz="1200" b="1" dirty="0" err="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78EC9D6-0FD6-D659-9036-D17E54E7F0B1}"/>
              </a:ext>
            </a:extLst>
          </p:cNvPr>
          <p:cNvSpPr txBox="1"/>
          <p:nvPr/>
        </p:nvSpPr>
        <p:spPr>
          <a:xfrm>
            <a:off x="609600" y="927100"/>
            <a:ext cx="10972800" cy="307777"/>
          </a:xfrm>
          <a:prstGeom prst="rect">
            <a:avLst/>
          </a:prstGeom>
          <a:noFill/>
        </p:spPr>
        <p:txBody>
          <a:bodyPr vert="horz" wrap="square" lIns="0" tIns="0" rIns="0" bIns="0" rtlCol="0">
            <a:noAutofit/>
          </a:bodyPr>
          <a:lstStyle/>
          <a:p>
            <a:r>
              <a:rPr lang="en-US" sz="3100" b="1">
                <a:solidFill>
                  <a:srgbClr val="171717"/>
                </a:solidFill>
                <a:latin typeface="Segoe UI" panose="020B0502040204020203" pitchFamily="34" charset="0"/>
              </a:rPr>
              <a:t>Why a framework, not a custom harness?</a:t>
            </a:r>
            <a:endParaRPr lang="en-US" sz="3100" b="1" dirty="0" err="1">
              <a:solidFill>
                <a:srgbClr val="171717"/>
              </a:solidFill>
              <a:latin typeface="Segoe UI" panose="020B0502040204020203" pitchFamily="34" charset="0"/>
            </a:endParaRPr>
          </a:p>
        </p:txBody>
      </p:sp>
      <p:sp>
        <p:nvSpPr>
          <p:cNvPr id="6" name="TextBox 5">
            <a:extLst>
              <a:ext uri="{FF2B5EF4-FFF2-40B4-BE49-F238E27FC236}">
                <a16:creationId xmlns:a16="http://schemas.microsoft.com/office/drawing/2014/main" id="{67ED90C4-3345-E7D9-0AC2-9937F9F29B28}"/>
              </a:ext>
            </a:extLst>
          </p:cNvPr>
          <p:cNvSpPr txBox="1"/>
          <p:nvPr/>
        </p:nvSpPr>
        <p:spPr>
          <a:xfrm>
            <a:off x="609600" y="1574800"/>
            <a:ext cx="10972800" cy="307777"/>
          </a:xfrm>
          <a:prstGeom prst="rect">
            <a:avLst/>
          </a:prstGeom>
          <a:noFill/>
        </p:spPr>
        <p:txBody>
          <a:bodyPr vert="horz" wrap="square" lIns="0" tIns="0" rIns="0" bIns="0" rtlCol="0">
            <a:noAutofit/>
          </a:bodyPr>
          <a:lstStyle/>
          <a:p>
            <a:r>
              <a:rPr lang="en-US" sz="1700">
                <a:solidFill>
                  <a:srgbClr val="007AD4"/>
                </a:solidFill>
                <a:latin typeface="Segoe UI" panose="020B0502040204020203" pitchFamily="34" charset="0"/>
              </a:rPr>
              <a:t>The fourth iteration turns years of agent engineering into a maintained foundation.</a:t>
            </a:r>
            <a:endParaRPr lang="en-US" sz="1700" dirty="0" err="1">
              <a:solidFill>
                <a:srgbClr val="007AD4"/>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081B615D-7DE7-3793-2C21-0BF750F9032A}"/>
              </a:ext>
            </a:extLst>
          </p:cNvPr>
          <p:cNvSpPr/>
          <p:nvPr/>
        </p:nvSpPr>
        <p:spPr bwMode="auto">
          <a:xfrm>
            <a:off x="609600" y="2159000"/>
            <a:ext cx="4216400" cy="3695700"/>
          </a:xfrm>
          <a:prstGeom prst="roundRect">
            <a:avLst/>
          </a:prstGeom>
          <a:solidFill>
            <a:srgbClr val="FFFFFF"/>
          </a:solidFill>
          <a:ln w="9525">
            <a:solidFill>
              <a:srgbClr val="E7E7E7"/>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CF247E03-6D75-7981-F6DA-7FC07B570FE2}"/>
              </a:ext>
            </a:extLst>
          </p:cNvPr>
          <p:cNvSpPr/>
          <p:nvPr/>
        </p:nvSpPr>
        <p:spPr bwMode="auto">
          <a:xfrm>
            <a:off x="5105400" y="2159000"/>
            <a:ext cx="6477000" cy="3695700"/>
          </a:xfrm>
          <a:prstGeom prst="roundRect">
            <a:avLst/>
          </a:prstGeom>
          <a:solidFill>
            <a:srgbClr val="FFFFFF"/>
          </a:solidFill>
          <a:ln w="9525">
            <a:solidFill>
              <a:srgbClr val="E7E7E7"/>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Oval 8">
            <a:extLst>
              <a:ext uri="{FF2B5EF4-FFF2-40B4-BE49-F238E27FC236}">
                <a16:creationId xmlns:a16="http://schemas.microsoft.com/office/drawing/2014/main" id="{0FC5D1E2-A18F-AD1A-70A7-64A7E5A81BC5}"/>
              </a:ext>
            </a:extLst>
          </p:cNvPr>
          <p:cNvSpPr/>
          <p:nvPr/>
        </p:nvSpPr>
        <p:spPr bwMode="auto">
          <a:xfrm>
            <a:off x="838200" y="2374900"/>
            <a:ext cx="393700" cy="393700"/>
          </a:xfrm>
          <a:prstGeom prst="ellipse">
            <a:avLst/>
          </a:prstGeom>
          <a:solidFill>
            <a:srgbClr val="FBF8F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TextBox 9">
            <a:extLst>
              <a:ext uri="{FF2B5EF4-FFF2-40B4-BE49-F238E27FC236}">
                <a16:creationId xmlns:a16="http://schemas.microsoft.com/office/drawing/2014/main" id="{2B8CA7DA-3745-5D1E-D9DB-357F5D6EF27D}"/>
              </a:ext>
            </a:extLst>
          </p:cNvPr>
          <p:cNvSpPr txBox="1"/>
          <p:nvPr/>
        </p:nvSpPr>
        <p:spPr>
          <a:xfrm>
            <a:off x="838200" y="2438400"/>
            <a:ext cx="393700" cy="307777"/>
          </a:xfrm>
          <a:prstGeom prst="rect">
            <a:avLst/>
          </a:prstGeom>
          <a:noFill/>
        </p:spPr>
        <p:txBody>
          <a:bodyPr vert="horz" wrap="square" lIns="0" tIns="0" rIns="0" bIns="0" rtlCol="0">
            <a:noAutofit/>
          </a:bodyPr>
          <a:lstStyle/>
          <a:p>
            <a:pPr algn="ctr"/>
            <a:r>
              <a:rPr lang="en-US" sz="1500" b="1">
                <a:solidFill>
                  <a:srgbClr val="7453D9"/>
                </a:solidFill>
                <a:latin typeface="Segoe UI" panose="020B0502040204020203" pitchFamily="34" charset="0"/>
              </a:rPr>
              <a:t>!</a:t>
            </a:r>
            <a:endParaRPr lang="en-US" sz="1500" b="1" dirty="0" err="1">
              <a:solidFill>
                <a:srgbClr val="7453D9"/>
              </a:solidFill>
              <a:latin typeface="Segoe UI" panose="020B0502040204020203" pitchFamily="34" charset="0"/>
            </a:endParaRPr>
          </a:p>
        </p:txBody>
      </p:sp>
      <p:sp>
        <p:nvSpPr>
          <p:cNvPr id="11" name="TextBox 10">
            <a:extLst>
              <a:ext uri="{FF2B5EF4-FFF2-40B4-BE49-F238E27FC236}">
                <a16:creationId xmlns:a16="http://schemas.microsoft.com/office/drawing/2014/main" id="{F47548F5-38FE-A6AC-5F46-4D3A84DC28D2}"/>
              </a:ext>
            </a:extLst>
          </p:cNvPr>
          <p:cNvSpPr txBox="1"/>
          <p:nvPr/>
        </p:nvSpPr>
        <p:spPr>
          <a:xfrm>
            <a:off x="1371600" y="2362200"/>
            <a:ext cx="3124200" cy="304800"/>
          </a:xfrm>
          <a:prstGeom prst="rect">
            <a:avLst/>
          </a:prstGeom>
          <a:noFill/>
        </p:spPr>
        <p:txBody>
          <a:bodyPr vert="horz" wrap="square" lIns="0" tIns="0" rIns="0" bIns="0" rtlCol="0">
            <a:noAutofit/>
          </a:bodyPr>
          <a:lstStyle/>
          <a:p>
            <a:r>
              <a:rPr lang="en-US" sz="1700" b="1">
                <a:solidFill>
                  <a:srgbClr val="171717"/>
                </a:solidFill>
                <a:latin typeface="Segoe UI" panose="020B0502040204020203" pitchFamily="34" charset="0"/>
              </a:rPr>
              <a:t>A custom harness starts thin</a:t>
            </a:r>
            <a:endParaRPr lang="en-US" sz="1700" b="1" dirty="0" err="1">
              <a:solidFill>
                <a:srgbClr val="171717"/>
              </a:solidFill>
              <a:latin typeface="Segoe UI" panose="020B0502040204020203" pitchFamily="34" charset="0"/>
            </a:endParaRPr>
          </a:p>
        </p:txBody>
      </p:sp>
      <p:sp>
        <p:nvSpPr>
          <p:cNvPr id="12" name="TextBox 11">
            <a:extLst>
              <a:ext uri="{FF2B5EF4-FFF2-40B4-BE49-F238E27FC236}">
                <a16:creationId xmlns:a16="http://schemas.microsoft.com/office/drawing/2014/main" id="{FF6C73CF-140D-FB2A-9255-920828E2DAB9}"/>
              </a:ext>
            </a:extLst>
          </p:cNvPr>
          <p:cNvSpPr txBox="1"/>
          <p:nvPr/>
        </p:nvSpPr>
        <p:spPr>
          <a:xfrm>
            <a:off x="1371600" y="2667000"/>
            <a:ext cx="3124200" cy="307777"/>
          </a:xfrm>
          <a:prstGeom prst="rect">
            <a:avLst/>
          </a:prstGeom>
          <a:noFill/>
        </p:spPr>
        <p:txBody>
          <a:bodyPr vert="horz" wrap="square" lIns="0" tIns="0" rIns="0" bIns="0" rtlCol="0">
            <a:noAutofit/>
          </a:bodyPr>
          <a:lstStyle/>
          <a:p>
            <a:r>
              <a:rPr lang="en-US" sz="1050">
                <a:solidFill>
                  <a:srgbClr val="60595E"/>
                </a:solidFill>
                <a:latin typeface="Segoe UI" panose="020B0502040204020203" pitchFamily="34" charset="0"/>
              </a:rPr>
              <a:t>Then the application team owns every layer.</a:t>
            </a:r>
            <a:endParaRPr lang="en-US" sz="1050" dirty="0" err="1">
              <a:solidFill>
                <a:srgbClr val="60595E"/>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33D8FCE5-1221-059B-FAD4-E6447276206C}"/>
              </a:ext>
            </a:extLst>
          </p:cNvPr>
          <p:cNvSpPr/>
          <p:nvPr/>
        </p:nvSpPr>
        <p:spPr bwMode="auto">
          <a:xfrm>
            <a:off x="914400" y="3035300"/>
            <a:ext cx="3530600" cy="368300"/>
          </a:xfrm>
          <a:prstGeom prst="roundRect">
            <a:avLst/>
          </a:prstGeom>
          <a:solidFill>
            <a:srgbClr val="E5F4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E7B7D634-3E70-5844-4F21-780C14AFDACA}"/>
              </a:ext>
            </a:extLst>
          </p:cNvPr>
          <p:cNvSpPr/>
          <p:nvPr/>
        </p:nvSpPr>
        <p:spPr bwMode="auto">
          <a:xfrm>
            <a:off x="914400" y="3035300"/>
            <a:ext cx="88900" cy="368300"/>
          </a:xfrm>
          <a:prstGeom prst="rect">
            <a:avLst/>
          </a:prstGeom>
          <a:solidFill>
            <a:srgbClr val="007A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D79EF890-5B4F-29E1-AAA8-40BAABE3E717}"/>
              </a:ext>
            </a:extLst>
          </p:cNvPr>
          <p:cNvSpPr txBox="1"/>
          <p:nvPr/>
        </p:nvSpPr>
        <p:spPr>
          <a:xfrm>
            <a:off x="1130300" y="3111500"/>
            <a:ext cx="3213100" cy="307777"/>
          </a:xfrm>
          <a:prstGeom prst="rect">
            <a:avLst/>
          </a:prstGeom>
          <a:noFill/>
        </p:spPr>
        <p:txBody>
          <a:bodyPr vert="horz" wrap="square" lIns="0" tIns="0" rIns="0" bIns="0" rtlCol="0">
            <a:noAutofit/>
          </a:bodyPr>
          <a:lstStyle/>
          <a:p>
            <a:r>
              <a:rPr lang="en-US" sz="1150" b="1">
                <a:solidFill>
                  <a:srgbClr val="171717"/>
                </a:solidFill>
                <a:latin typeface="Segoe UI" panose="020B0502040204020203" pitchFamily="34" charset="0"/>
              </a:rPr>
              <a:t>OpenAI client wrapper</a:t>
            </a:r>
            <a:endParaRPr lang="en-US" sz="1150" b="1" dirty="0" err="1">
              <a:solidFill>
                <a:srgbClr val="171717"/>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D9D5521E-B48A-2951-A51D-36631FD7E43C}"/>
              </a:ext>
            </a:extLst>
          </p:cNvPr>
          <p:cNvSpPr/>
          <p:nvPr/>
        </p:nvSpPr>
        <p:spPr bwMode="auto">
          <a:xfrm>
            <a:off x="965200" y="3505200"/>
            <a:ext cx="3429000" cy="368300"/>
          </a:xfrm>
          <a:prstGeom prst="roundRect">
            <a:avLst/>
          </a:prstGeom>
          <a:solidFill>
            <a:srgbClr val="F3F7F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90C74417-165F-6483-6713-F5C81D1B89AC}"/>
              </a:ext>
            </a:extLst>
          </p:cNvPr>
          <p:cNvSpPr/>
          <p:nvPr/>
        </p:nvSpPr>
        <p:spPr bwMode="auto">
          <a:xfrm>
            <a:off x="965200" y="3505200"/>
            <a:ext cx="88900" cy="368300"/>
          </a:xfrm>
          <a:prstGeom prst="rect">
            <a:avLst/>
          </a:prstGeom>
          <a:solidFill>
            <a:srgbClr val="3899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4D5D60BB-D3B7-BCEE-2BCD-9C75AA45CF93}"/>
              </a:ext>
            </a:extLst>
          </p:cNvPr>
          <p:cNvSpPr txBox="1"/>
          <p:nvPr/>
        </p:nvSpPr>
        <p:spPr>
          <a:xfrm>
            <a:off x="1181100" y="3581400"/>
            <a:ext cx="3111500" cy="307777"/>
          </a:xfrm>
          <a:prstGeom prst="rect">
            <a:avLst/>
          </a:prstGeom>
          <a:noFill/>
        </p:spPr>
        <p:txBody>
          <a:bodyPr vert="horz" wrap="square" lIns="0" tIns="0" rIns="0" bIns="0" rtlCol="0">
            <a:noAutofit/>
          </a:bodyPr>
          <a:lstStyle/>
          <a:p>
            <a:r>
              <a:rPr lang="en-US" sz="1150" b="1">
                <a:solidFill>
                  <a:srgbClr val="171717"/>
                </a:solidFill>
                <a:latin typeface="Segoe UI" panose="020B0502040204020203" pitchFamily="34" charset="0"/>
              </a:rPr>
              <a:t>History + memory stores</a:t>
            </a:r>
            <a:endParaRPr lang="en-US" sz="1150" b="1" dirty="0" err="1">
              <a:solidFill>
                <a:srgbClr val="171717"/>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123594FF-728C-C78B-70FC-184AAB084DB7}"/>
              </a:ext>
            </a:extLst>
          </p:cNvPr>
          <p:cNvSpPr/>
          <p:nvPr/>
        </p:nvSpPr>
        <p:spPr bwMode="auto">
          <a:xfrm>
            <a:off x="1016000" y="3975100"/>
            <a:ext cx="3327400" cy="368300"/>
          </a:xfrm>
          <a:prstGeom prst="roundRect">
            <a:avLst/>
          </a:prstGeom>
          <a:solidFill>
            <a:srgbClr val="FBF8F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FBBF1C75-AF04-9B0E-45FB-5F2457BDB5DF}"/>
              </a:ext>
            </a:extLst>
          </p:cNvPr>
          <p:cNvSpPr/>
          <p:nvPr/>
        </p:nvSpPr>
        <p:spPr bwMode="auto">
          <a:xfrm>
            <a:off x="1016000" y="3975100"/>
            <a:ext cx="88900" cy="368300"/>
          </a:xfrm>
          <a:prstGeom prst="rect">
            <a:avLst/>
          </a:prstGeom>
          <a:solidFill>
            <a:srgbClr val="7453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2C38AEA8-D1CC-3AEF-8783-CBE6ECE5272B}"/>
              </a:ext>
            </a:extLst>
          </p:cNvPr>
          <p:cNvSpPr txBox="1"/>
          <p:nvPr/>
        </p:nvSpPr>
        <p:spPr>
          <a:xfrm>
            <a:off x="1231900" y="4051300"/>
            <a:ext cx="3009900" cy="307777"/>
          </a:xfrm>
          <a:prstGeom prst="rect">
            <a:avLst/>
          </a:prstGeom>
          <a:noFill/>
        </p:spPr>
        <p:txBody>
          <a:bodyPr vert="horz" wrap="square" lIns="0" tIns="0" rIns="0" bIns="0" rtlCol="0">
            <a:noAutofit/>
          </a:bodyPr>
          <a:lstStyle/>
          <a:p>
            <a:r>
              <a:rPr lang="en-US" sz="1150" b="1">
                <a:solidFill>
                  <a:srgbClr val="171717"/>
                </a:solidFill>
                <a:latin typeface="Segoe UI" panose="020B0502040204020203" pitchFamily="34" charset="0"/>
              </a:rPr>
              <a:t>Security + authorization</a:t>
            </a:r>
            <a:endParaRPr lang="en-US" sz="1150" b="1" dirty="0" err="1">
              <a:solidFill>
                <a:srgbClr val="171717"/>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AC45DD3F-D407-050F-AC6E-8B8D3F78496F}"/>
              </a:ext>
            </a:extLst>
          </p:cNvPr>
          <p:cNvSpPr/>
          <p:nvPr/>
        </p:nvSpPr>
        <p:spPr bwMode="auto">
          <a:xfrm>
            <a:off x="1066800" y="4445000"/>
            <a:ext cx="3225800" cy="368300"/>
          </a:xfrm>
          <a:prstGeom prst="roundRect">
            <a:avLst/>
          </a:prstGeom>
          <a:solidFill>
            <a:srgbClr val="F8EBF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93BC31A6-1075-BBC9-807F-A07FD68277EE}"/>
              </a:ext>
            </a:extLst>
          </p:cNvPr>
          <p:cNvSpPr/>
          <p:nvPr/>
        </p:nvSpPr>
        <p:spPr bwMode="auto">
          <a:xfrm>
            <a:off x="1066800" y="4445000"/>
            <a:ext cx="88900" cy="368300"/>
          </a:xfrm>
          <a:prstGeom prst="rect">
            <a:avLst/>
          </a:prstGeom>
          <a:solidFill>
            <a:srgbClr val="8067B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4" name="TextBox 23">
            <a:extLst>
              <a:ext uri="{FF2B5EF4-FFF2-40B4-BE49-F238E27FC236}">
                <a16:creationId xmlns:a16="http://schemas.microsoft.com/office/drawing/2014/main" id="{E984E561-985C-3741-3F74-D7B62AEAAC2B}"/>
              </a:ext>
            </a:extLst>
          </p:cNvPr>
          <p:cNvSpPr txBox="1"/>
          <p:nvPr/>
        </p:nvSpPr>
        <p:spPr>
          <a:xfrm>
            <a:off x="1282700" y="4521200"/>
            <a:ext cx="2908300" cy="307777"/>
          </a:xfrm>
          <a:prstGeom prst="rect">
            <a:avLst/>
          </a:prstGeom>
          <a:noFill/>
        </p:spPr>
        <p:txBody>
          <a:bodyPr vert="horz" wrap="square" lIns="0" tIns="0" rIns="0" bIns="0" rtlCol="0">
            <a:noAutofit/>
          </a:bodyPr>
          <a:lstStyle/>
          <a:p>
            <a:r>
              <a:rPr lang="en-US" sz="1150" b="1">
                <a:solidFill>
                  <a:srgbClr val="171717"/>
                </a:solidFill>
                <a:latin typeface="Segoe UI" panose="020B0502040204020203" pitchFamily="34" charset="0"/>
              </a:rPr>
              <a:t>Observability + governance</a:t>
            </a:r>
            <a:endParaRPr lang="en-US" sz="1150" b="1" dirty="0" err="1">
              <a:solidFill>
                <a:srgbClr val="171717"/>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350C070B-8270-90DF-5FD0-F5A331DB6C7C}"/>
              </a:ext>
            </a:extLst>
          </p:cNvPr>
          <p:cNvSpPr/>
          <p:nvPr/>
        </p:nvSpPr>
        <p:spPr bwMode="auto">
          <a:xfrm>
            <a:off x="1117600" y="4914900"/>
            <a:ext cx="3124200" cy="368300"/>
          </a:xfrm>
          <a:prstGeom prst="roundRect">
            <a:avLst/>
          </a:prstGeom>
          <a:solidFill>
            <a:srgbClr val="F2F2F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0F3FD9EC-5BFD-C76B-18DD-9C62E19EEC96}"/>
              </a:ext>
            </a:extLst>
          </p:cNvPr>
          <p:cNvSpPr/>
          <p:nvPr/>
        </p:nvSpPr>
        <p:spPr bwMode="auto">
          <a:xfrm>
            <a:off x="1117600" y="4914900"/>
            <a:ext cx="88900" cy="368300"/>
          </a:xfrm>
          <a:prstGeom prst="rect">
            <a:avLst/>
          </a:prstGeom>
          <a:solidFill>
            <a:srgbClr val="C43BC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7" name="TextBox 26">
            <a:extLst>
              <a:ext uri="{FF2B5EF4-FFF2-40B4-BE49-F238E27FC236}">
                <a16:creationId xmlns:a16="http://schemas.microsoft.com/office/drawing/2014/main" id="{C693ACF1-6A22-96CC-F2D9-7D3A95CC6115}"/>
              </a:ext>
            </a:extLst>
          </p:cNvPr>
          <p:cNvSpPr txBox="1"/>
          <p:nvPr/>
        </p:nvSpPr>
        <p:spPr>
          <a:xfrm>
            <a:off x="1333500" y="4991100"/>
            <a:ext cx="2806700" cy="307777"/>
          </a:xfrm>
          <a:prstGeom prst="rect">
            <a:avLst/>
          </a:prstGeom>
          <a:noFill/>
        </p:spPr>
        <p:txBody>
          <a:bodyPr vert="horz" wrap="square" lIns="0" tIns="0" rIns="0" bIns="0" rtlCol="0">
            <a:noAutofit/>
          </a:bodyPr>
          <a:lstStyle/>
          <a:p>
            <a:r>
              <a:rPr lang="en-US" sz="1150" b="1">
                <a:solidFill>
                  <a:srgbClr val="171717"/>
                </a:solidFill>
                <a:latin typeface="Segoe UI" panose="020B0502040204020203" pitchFamily="34" charset="0"/>
              </a:rPr>
              <a:t>New features + maintenance</a:t>
            </a:r>
            <a:endParaRPr lang="en-US" sz="1150" b="1" dirty="0" err="1">
              <a:solidFill>
                <a:srgbClr val="171717"/>
              </a:solidFill>
              <a:latin typeface="Segoe UI" panose="020B0502040204020203" pitchFamily="34" charset="0"/>
            </a:endParaRPr>
          </a:p>
        </p:txBody>
      </p:sp>
      <p:sp>
        <p:nvSpPr>
          <p:cNvPr id="28" name="TextBox 27">
            <a:extLst>
              <a:ext uri="{FF2B5EF4-FFF2-40B4-BE49-F238E27FC236}">
                <a16:creationId xmlns:a16="http://schemas.microsoft.com/office/drawing/2014/main" id="{78C4225A-7442-4CDA-BAF5-8DC7C5DD6B58}"/>
              </a:ext>
            </a:extLst>
          </p:cNvPr>
          <p:cNvSpPr txBox="1"/>
          <p:nvPr/>
        </p:nvSpPr>
        <p:spPr>
          <a:xfrm>
            <a:off x="5384800" y="2374900"/>
            <a:ext cx="5892800" cy="304800"/>
          </a:xfrm>
          <a:prstGeom prst="rect">
            <a:avLst/>
          </a:prstGeom>
          <a:noFill/>
        </p:spPr>
        <p:txBody>
          <a:bodyPr vert="horz" wrap="square" lIns="0" tIns="0" rIns="0" bIns="0" rtlCol="0">
            <a:noAutofit/>
          </a:bodyPr>
          <a:lstStyle/>
          <a:p>
            <a:r>
              <a:rPr lang="en-US" sz="1700" b="1">
                <a:solidFill>
                  <a:srgbClr val="171717"/>
                </a:solidFill>
                <a:latin typeface="Segoe UI" panose="020B0502040204020203" pitchFamily="34" charset="0"/>
              </a:rPr>
              <a:t>Built through four iterations</a:t>
            </a:r>
            <a:endParaRPr lang="en-US" sz="1700" b="1" dirty="0" err="1">
              <a:solidFill>
                <a:srgbClr val="171717"/>
              </a:solidFill>
              <a:latin typeface="Segoe UI" panose="020B0502040204020203" pitchFamily="34" charset="0"/>
            </a:endParaRPr>
          </a:p>
        </p:txBody>
      </p:sp>
      <p:sp>
        <p:nvSpPr>
          <p:cNvPr id="29" name="TextBox 28">
            <a:extLst>
              <a:ext uri="{FF2B5EF4-FFF2-40B4-BE49-F238E27FC236}">
                <a16:creationId xmlns:a16="http://schemas.microsoft.com/office/drawing/2014/main" id="{F1BBC61B-6FC9-AE6B-DE27-A06432A8D3DF}"/>
              </a:ext>
            </a:extLst>
          </p:cNvPr>
          <p:cNvSpPr txBox="1"/>
          <p:nvPr/>
        </p:nvSpPr>
        <p:spPr>
          <a:xfrm>
            <a:off x="5384800" y="2679700"/>
            <a:ext cx="5892800" cy="307777"/>
          </a:xfrm>
          <a:prstGeom prst="rect">
            <a:avLst/>
          </a:prstGeom>
          <a:noFill/>
        </p:spPr>
        <p:txBody>
          <a:bodyPr vert="horz" wrap="square" lIns="0" tIns="0" rIns="0" bIns="0" rtlCol="0">
            <a:noAutofit/>
          </a:bodyPr>
          <a:lstStyle/>
          <a:p>
            <a:r>
              <a:rPr lang="en-US" sz="1050">
                <a:solidFill>
                  <a:srgbClr val="60595E"/>
                </a:solidFill>
                <a:latin typeface="Segoe UI" panose="020B0502040204020203" pitchFamily="34" charset="0"/>
              </a:rPr>
              <a:t>Each generation carried forward what worked.</a:t>
            </a:r>
            <a:endParaRPr lang="en-US" sz="1050" dirty="0" err="1">
              <a:solidFill>
                <a:srgbClr val="60595E"/>
              </a:solidFill>
              <a:latin typeface="Segoe UI" panose="020B0502040204020203" pitchFamily="34" charset="0"/>
            </a:endParaRPr>
          </a:p>
        </p:txBody>
      </p:sp>
      <p:cxnSp>
        <p:nvCxnSpPr>
          <p:cNvPr id="30" name="Straight Connector 29">
            <a:extLst>
              <a:ext uri="{FF2B5EF4-FFF2-40B4-BE49-F238E27FC236}">
                <a16:creationId xmlns:a16="http://schemas.microsoft.com/office/drawing/2014/main" id="{34375480-8955-4F57-D010-11AF564616CE}"/>
              </a:ext>
            </a:extLst>
          </p:cNvPr>
          <p:cNvCxnSpPr/>
          <p:nvPr/>
        </p:nvCxnSpPr>
        <p:spPr>
          <a:xfrm>
            <a:off x="5816600" y="3378200"/>
            <a:ext cx="4838700" cy="0"/>
          </a:xfrm>
          <a:prstGeom prst="line">
            <a:avLst/>
          </a:prstGeom>
          <a:ln w="25400">
            <a:solidFill>
              <a:srgbClr val="CFCFCF"/>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3BAB1C04-06FB-483B-B305-00A78C3FF267}"/>
              </a:ext>
            </a:extLst>
          </p:cNvPr>
          <p:cNvSpPr/>
          <p:nvPr/>
        </p:nvSpPr>
        <p:spPr bwMode="auto">
          <a:xfrm>
            <a:off x="5702300" y="3263900"/>
            <a:ext cx="228600" cy="228600"/>
          </a:xfrm>
          <a:prstGeom prst="ellipse">
            <a:avLst/>
          </a:prstGeom>
          <a:solidFill>
            <a:srgbClr val="007A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2" name="TextBox 31">
            <a:extLst>
              <a:ext uri="{FF2B5EF4-FFF2-40B4-BE49-F238E27FC236}">
                <a16:creationId xmlns:a16="http://schemas.microsoft.com/office/drawing/2014/main" id="{11A8A59B-881B-71C2-7E83-3FD3A4FF250D}"/>
              </a:ext>
            </a:extLst>
          </p:cNvPr>
          <p:cNvSpPr txBox="1"/>
          <p:nvPr/>
        </p:nvSpPr>
        <p:spPr>
          <a:xfrm>
            <a:off x="5092700" y="3619500"/>
            <a:ext cx="1447800" cy="307777"/>
          </a:xfrm>
          <a:prstGeom prst="rect">
            <a:avLst/>
          </a:prstGeom>
          <a:noFill/>
        </p:spPr>
        <p:txBody>
          <a:bodyPr vert="horz" wrap="square" lIns="0" tIns="0" rIns="0" bIns="0" rtlCol="0">
            <a:noAutofit/>
          </a:bodyPr>
          <a:lstStyle/>
          <a:p>
            <a:pPr algn="ctr"/>
            <a:r>
              <a:rPr lang="en-US" sz="1050" b="1">
                <a:solidFill>
                  <a:srgbClr val="007AD4"/>
                </a:solidFill>
                <a:latin typeface="Segoe UI" panose="020B0502040204020203" pitchFamily="34" charset="0"/>
              </a:rPr>
              <a:t>AutoGen v1</a:t>
            </a:r>
            <a:endParaRPr lang="en-US" sz="1050" b="1" dirty="0" err="1">
              <a:solidFill>
                <a:srgbClr val="007AD4"/>
              </a:solidFill>
              <a:latin typeface="Segoe UI" panose="020B0502040204020203" pitchFamily="34" charset="0"/>
            </a:endParaRPr>
          </a:p>
        </p:txBody>
      </p:sp>
      <p:sp>
        <p:nvSpPr>
          <p:cNvPr id="33" name="TextBox 32">
            <a:extLst>
              <a:ext uri="{FF2B5EF4-FFF2-40B4-BE49-F238E27FC236}">
                <a16:creationId xmlns:a16="http://schemas.microsoft.com/office/drawing/2014/main" id="{8D37A830-0E44-2254-3EBE-2DA67E57EA76}"/>
              </a:ext>
            </a:extLst>
          </p:cNvPr>
          <p:cNvSpPr txBox="1"/>
          <p:nvPr/>
        </p:nvSpPr>
        <p:spPr>
          <a:xfrm>
            <a:off x="5092700" y="3962400"/>
            <a:ext cx="1447800" cy="307777"/>
          </a:xfrm>
          <a:prstGeom prst="rect">
            <a:avLst/>
          </a:prstGeom>
          <a:noFill/>
        </p:spPr>
        <p:txBody>
          <a:bodyPr vert="horz" wrap="square" lIns="0" tIns="0" rIns="0" bIns="0" rtlCol="0">
            <a:noAutofit/>
          </a:bodyPr>
          <a:lstStyle/>
          <a:p>
            <a:pPr algn="ctr"/>
            <a:r>
              <a:rPr lang="en-US" sz="1000">
                <a:solidFill>
                  <a:srgbClr val="60595E"/>
                </a:solidFill>
                <a:latin typeface="Segoe UI" panose="020B0502040204020203" pitchFamily="34" charset="0"/>
              </a:rPr>
              <a:t>First agentic
interaction</a:t>
            </a:r>
            <a:endParaRPr lang="en-US" sz="1000" dirty="0" err="1">
              <a:solidFill>
                <a:srgbClr val="60595E"/>
              </a:solidFill>
              <a:latin typeface="Segoe UI" panose="020B0502040204020203" pitchFamily="34" charset="0"/>
            </a:endParaRPr>
          </a:p>
        </p:txBody>
      </p:sp>
      <p:sp>
        <p:nvSpPr>
          <p:cNvPr id="34" name="Oval 33">
            <a:extLst>
              <a:ext uri="{FF2B5EF4-FFF2-40B4-BE49-F238E27FC236}">
                <a16:creationId xmlns:a16="http://schemas.microsoft.com/office/drawing/2014/main" id="{861AB01C-8A37-77CE-FE10-01E69C8DE463}"/>
              </a:ext>
            </a:extLst>
          </p:cNvPr>
          <p:cNvSpPr/>
          <p:nvPr/>
        </p:nvSpPr>
        <p:spPr bwMode="auto">
          <a:xfrm>
            <a:off x="7315200" y="3263900"/>
            <a:ext cx="228600" cy="228600"/>
          </a:xfrm>
          <a:prstGeom prst="ellipse">
            <a:avLst/>
          </a:prstGeom>
          <a:solidFill>
            <a:srgbClr val="3899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116F37A6-5E20-141A-4CB7-1BCE45859A03}"/>
              </a:ext>
            </a:extLst>
          </p:cNvPr>
          <p:cNvSpPr txBox="1"/>
          <p:nvPr/>
        </p:nvSpPr>
        <p:spPr>
          <a:xfrm>
            <a:off x="6705600" y="3619500"/>
            <a:ext cx="1447800" cy="307777"/>
          </a:xfrm>
          <a:prstGeom prst="rect">
            <a:avLst/>
          </a:prstGeom>
          <a:noFill/>
        </p:spPr>
        <p:txBody>
          <a:bodyPr vert="horz" wrap="square" lIns="0" tIns="0" rIns="0" bIns="0" rtlCol="0">
            <a:noAutofit/>
          </a:bodyPr>
          <a:lstStyle/>
          <a:p>
            <a:pPr algn="ctr"/>
            <a:r>
              <a:rPr lang="en-US" sz="1050" b="1">
                <a:solidFill>
                  <a:srgbClr val="3899A1"/>
                </a:solidFill>
                <a:latin typeface="Segoe UI" panose="020B0502040204020203" pitchFamily="34" charset="0"/>
              </a:rPr>
              <a:t>AutoGen v2</a:t>
            </a:r>
            <a:endParaRPr lang="en-US" sz="1050" b="1" dirty="0" err="1">
              <a:solidFill>
                <a:srgbClr val="3899A1"/>
              </a:solidFill>
              <a:latin typeface="Segoe UI" panose="020B0502040204020203" pitchFamily="34" charset="0"/>
            </a:endParaRPr>
          </a:p>
        </p:txBody>
      </p:sp>
      <p:sp>
        <p:nvSpPr>
          <p:cNvPr id="36" name="TextBox 35">
            <a:extLst>
              <a:ext uri="{FF2B5EF4-FFF2-40B4-BE49-F238E27FC236}">
                <a16:creationId xmlns:a16="http://schemas.microsoft.com/office/drawing/2014/main" id="{B0D934AB-FD11-27E5-55A0-886D4D869284}"/>
              </a:ext>
            </a:extLst>
          </p:cNvPr>
          <p:cNvSpPr txBox="1"/>
          <p:nvPr/>
        </p:nvSpPr>
        <p:spPr>
          <a:xfrm>
            <a:off x="6705600" y="3962400"/>
            <a:ext cx="1447800" cy="307777"/>
          </a:xfrm>
          <a:prstGeom prst="rect">
            <a:avLst/>
          </a:prstGeom>
          <a:noFill/>
        </p:spPr>
        <p:txBody>
          <a:bodyPr vert="horz" wrap="square" lIns="0" tIns="0" rIns="0" bIns="0" rtlCol="0">
            <a:noAutofit/>
          </a:bodyPr>
          <a:lstStyle/>
          <a:p>
            <a:pPr algn="ctr"/>
            <a:r>
              <a:rPr lang="en-US" sz="1000" dirty="0">
                <a:solidFill>
                  <a:srgbClr val="60595E"/>
                </a:solidFill>
                <a:latin typeface="Segoe UI" panose="020B0502040204020203" pitchFamily="34" charset="0"/>
              </a:rPr>
              <a:t>Cloud event-based
protocol, structured </a:t>
            </a:r>
            <a:r>
              <a:rPr lang="en-US" sz="1000" dirty="0" err="1">
                <a:solidFill>
                  <a:srgbClr val="60595E"/>
                </a:solidFill>
                <a:latin typeface="Segoe UI" panose="020B0502040204020203" pitchFamily="34" charset="0"/>
              </a:rPr>
              <a:t>ouputs</a:t>
            </a:r>
            <a:r>
              <a:rPr lang="en-US" sz="1000" dirty="0">
                <a:solidFill>
                  <a:srgbClr val="60595E"/>
                </a:solidFill>
                <a:latin typeface="Segoe UI" panose="020B0502040204020203" pitchFamily="34" charset="0"/>
              </a:rPr>
              <a:t>, async agent communication</a:t>
            </a:r>
          </a:p>
        </p:txBody>
      </p:sp>
      <p:sp>
        <p:nvSpPr>
          <p:cNvPr id="37" name="Oval 36">
            <a:extLst>
              <a:ext uri="{FF2B5EF4-FFF2-40B4-BE49-F238E27FC236}">
                <a16:creationId xmlns:a16="http://schemas.microsoft.com/office/drawing/2014/main" id="{D512E628-3713-9453-1F52-DCF6321594E6}"/>
              </a:ext>
            </a:extLst>
          </p:cNvPr>
          <p:cNvSpPr/>
          <p:nvPr/>
        </p:nvSpPr>
        <p:spPr bwMode="auto">
          <a:xfrm>
            <a:off x="8928100" y="3263900"/>
            <a:ext cx="228600" cy="228600"/>
          </a:xfrm>
          <a:prstGeom prst="ellipse">
            <a:avLst/>
          </a:prstGeom>
          <a:solidFill>
            <a:srgbClr val="7453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5900C6D2-624F-A882-6403-6C2F6EE96943}"/>
              </a:ext>
            </a:extLst>
          </p:cNvPr>
          <p:cNvSpPr txBox="1"/>
          <p:nvPr/>
        </p:nvSpPr>
        <p:spPr>
          <a:xfrm>
            <a:off x="8318500" y="3619500"/>
            <a:ext cx="1447800" cy="307777"/>
          </a:xfrm>
          <a:prstGeom prst="rect">
            <a:avLst/>
          </a:prstGeom>
          <a:noFill/>
        </p:spPr>
        <p:txBody>
          <a:bodyPr vert="horz" wrap="square" lIns="0" tIns="0" rIns="0" bIns="0" rtlCol="0">
            <a:noAutofit/>
          </a:bodyPr>
          <a:lstStyle/>
          <a:p>
            <a:pPr algn="ctr"/>
            <a:r>
              <a:rPr lang="en-US" sz="1050" b="1">
                <a:solidFill>
                  <a:srgbClr val="7453D9"/>
                </a:solidFill>
                <a:latin typeface="Segoe UI" panose="020B0502040204020203" pitchFamily="34" charset="0"/>
              </a:rPr>
              <a:t>Semantic Kernel</a:t>
            </a:r>
            <a:endParaRPr lang="en-US" sz="1050" b="1" dirty="0" err="1">
              <a:solidFill>
                <a:srgbClr val="7453D9"/>
              </a:solidFill>
              <a:latin typeface="Segoe UI" panose="020B0502040204020203" pitchFamily="34" charset="0"/>
            </a:endParaRPr>
          </a:p>
        </p:txBody>
      </p:sp>
      <p:sp>
        <p:nvSpPr>
          <p:cNvPr id="39" name="TextBox 38">
            <a:extLst>
              <a:ext uri="{FF2B5EF4-FFF2-40B4-BE49-F238E27FC236}">
                <a16:creationId xmlns:a16="http://schemas.microsoft.com/office/drawing/2014/main" id="{50E34949-53F0-1636-E402-4AA91EB9B5FC}"/>
              </a:ext>
            </a:extLst>
          </p:cNvPr>
          <p:cNvSpPr txBox="1"/>
          <p:nvPr/>
        </p:nvSpPr>
        <p:spPr>
          <a:xfrm>
            <a:off x="8318500" y="3962400"/>
            <a:ext cx="1447800" cy="307777"/>
          </a:xfrm>
          <a:prstGeom prst="rect">
            <a:avLst/>
          </a:prstGeom>
          <a:noFill/>
        </p:spPr>
        <p:txBody>
          <a:bodyPr vert="horz" wrap="square" lIns="0" tIns="0" rIns="0" bIns="0" rtlCol="0">
            <a:noAutofit/>
          </a:bodyPr>
          <a:lstStyle/>
          <a:p>
            <a:pPr algn="ctr"/>
            <a:r>
              <a:rPr lang="en-US" sz="1000" dirty="0">
                <a:solidFill>
                  <a:srgbClr val="60595E"/>
                </a:solidFill>
                <a:latin typeface="Segoe UI" panose="020B0502040204020203" pitchFamily="34" charset="0"/>
              </a:rPr>
              <a:t>Plugins, planning +
session-based state management</a:t>
            </a:r>
          </a:p>
        </p:txBody>
      </p:sp>
      <p:sp>
        <p:nvSpPr>
          <p:cNvPr id="40" name="Oval 39">
            <a:extLst>
              <a:ext uri="{FF2B5EF4-FFF2-40B4-BE49-F238E27FC236}">
                <a16:creationId xmlns:a16="http://schemas.microsoft.com/office/drawing/2014/main" id="{32DF91D4-35FC-791D-E362-F4BFBFAE2656}"/>
              </a:ext>
            </a:extLst>
          </p:cNvPr>
          <p:cNvSpPr/>
          <p:nvPr/>
        </p:nvSpPr>
        <p:spPr bwMode="auto">
          <a:xfrm>
            <a:off x="10541000" y="3263900"/>
            <a:ext cx="228600" cy="228600"/>
          </a:xfrm>
          <a:prstGeom prst="ellipse">
            <a:avLst/>
          </a:prstGeom>
          <a:solidFill>
            <a:srgbClr val="C43BC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1" name="TextBox 40">
            <a:extLst>
              <a:ext uri="{FF2B5EF4-FFF2-40B4-BE49-F238E27FC236}">
                <a16:creationId xmlns:a16="http://schemas.microsoft.com/office/drawing/2014/main" id="{393FCDF1-F7EB-84EF-5F54-722E3C69B26E}"/>
              </a:ext>
            </a:extLst>
          </p:cNvPr>
          <p:cNvSpPr txBox="1"/>
          <p:nvPr/>
        </p:nvSpPr>
        <p:spPr>
          <a:xfrm>
            <a:off x="9931400" y="3619500"/>
            <a:ext cx="1447800" cy="307777"/>
          </a:xfrm>
          <a:prstGeom prst="rect">
            <a:avLst/>
          </a:prstGeom>
          <a:noFill/>
        </p:spPr>
        <p:txBody>
          <a:bodyPr vert="horz" wrap="square" lIns="0" tIns="0" rIns="0" bIns="0" rtlCol="0">
            <a:noAutofit/>
          </a:bodyPr>
          <a:lstStyle/>
          <a:p>
            <a:pPr algn="ctr"/>
            <a:r>
              <a:rPr lang="en-US" sz="1050" b="1">
                <a:solidFill>
                  <a:srgbClr val="C43BC8"/>
                </a:solidFill>
                <a:latin typeface="Segoe UI" panose="020B0502040204020203" pitchFamily="34" charset="0"/>
              </a:rPr>
              <a:t>Agent Framework</a:t>
            </a:r>
            <a:endParaRPr lang="en-US" sz="1050" b="1" dirty="0" err="1">
              <a:solidFill>
                <a:srgbClr val="C43BC8"/>
              </a:solidFill>
              <a:latin typeface="Segoe UI" panose="020B0502040204020203" pitchFamily="34" charset="0"/>
            </a:endParaRPr>
          </a:p>
        </p:txBody>
      </p:sp>
      <p:sp>
        <p:nvSpPr>
          <p:cNvPr id="42" name="TextBox 41">
            <a:extLst>
              <a:ext uri="{FF2B5EF4-FFF2-40B4-BE49-F238E27FC236}">
                <a16:creationId xmlns:a16="http://schemas.microsoft.com/office/drawing/2014/main" id="{E846FA03-0AF0-4F93-8725-30987DE868BF}"/>
              </a:ext>
            </a:extLst>
          </p:cNvPr>
          <p:cNvSpPr txBox="1"/>
          <p:nvPr/>
        </p:nvSpPr>
        <p:spPr>
          <a:xfrm>
            <a:off x="9931400" y="3962400"/>
            <a:ext cx="1447800" cy="307777"/>
          </a:xfrm>
          <a:prstGeom prst="rect">
            <a:avLst/>
          </a:prstGeom>
          <a:noFill/>
        </p:spPr>
        <p:txBody>
          <a:bodyPr vert="horz" wrap="square" lIns="0" tIns="0" rIns="0" bIns="0" rtlCol="0">
            <a:noAutofit/>
          </a:bodyPr>
          <a:lstStyle/>
          <a:p>
            <a:pPr algn="ctr"/>
            <a:r>
              <a:rPr lang="en-US" sz="1000">
                <a:solidFill>
                  <a:srgbClr val="60595E"/>
                </a:solidFill>
                <a:latin typeface="Segoe UI" panose="020B0502040204020203" pitchFamily="34" charset="0"/>
              </a:rPr>
              <a:t>Unified capabilities,
continuously evolved</a:t>
            </a:r>
            <a:endParaRPr lang="en-US" sz="1000" dirty="0" err="1">
              <a:solidFill>
                <a:srgbClr val="60595E"/>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5E915330-EDC9-8F07-7612-CA315E2AA9A9}"/>
              </a:ext>
            </a:extLst>
          </p:cNvPr>
          <p:cNvSpPr/>
          <p:nvPr/>
        </p:nvSpPr>
        <p:spPr bwMode="auto">
          <a:xfrm>
            <a:off x="5384800" y="4762500"/>
            <a:ext cx="5892800" cy="762000"/>
          </a:xfrm>
          <a:prstGeom prst="roundRect">
            <a:avLst/>
          </a:prstGeom>
          <a:gradFill flip="none" rotWithShape="1">
            <a:gsLst>
              <a:gs pos="0">
                <a:srgbClr val="E5F4FF"/>
              </a:gs>
              <a:gs pos="100000">
                <a:srgbClr val="FBF8FD"/>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4" name="TextBox 43">
            <a:extLst>
              <a:ext uri="{FF2B5EF4-FFF2-40B4-BE49-F238E27FC236}">
                <a16:creationId xmlns:a16="http://schemas.microsoft.com/office/drawing/2014/main" id="{2512CE6D-B16A-922B-953D-8B8DCAD6F663}"/>
              </a:ext>
            </a:extLst>
          </p:cNvPr>
          <p:cNvSpPr txBox="1"/>
          <p:nvPr/>
        </p:nvSpPr>
        <p:spPr>
          <a:xfrm>
            <a:off x="5588000" y="4876800"/>
            <a:ext cx="5486400" cy="307777"/>
          </a:xfrm>
          <a:prstGeom prst="rect">
            <a:avLst/>
          </a:prstGeom>
          <a:noFill/>
        </p:spPr>
        <p:txBody>
          <a:bodyPr vert="horz" wrap="square" lIns="0" tIns="0" rIns="0" bIns="0" rtlCol="0">
            <a:noAutofit/>
          </a:bodyPr>
          <a:lstStyle/>
          <a:p>
            <a:r>
              <a:rPr lang="en-US" sz="1000" b="1">
                <a:solidFill>
                  <a:srgbClr val="7453D9"/>
                </a:solidFill>
                <a:latin typeface="Segoe UI" panose="020B0502040204020203" pitchFamily="34" charset="0"/>
              </a:rPr>
              <a:t>ENTERPRISE-TESTED LEARNING</a:t>
            </a:r>
            <a:endParaRPr lang="en-US" sz="1000" b="1" dirty="0" err="1">
              <a:solidFill>
                <a:srgbClr val="7453D9"/>
              </a:solidFill>
              <a:latin typeface="Segoe UI" panose="020B0502040204020203" pitchFamily="34" charset="0"/>
            </a:endParaRPr>
          </a:p>
        </p:txBody>
      </p:sp>
      <p:sp>
        <p:nvSpPr>
          <p:cNvPr id="45" name="TextBox 44">
            <a:extLst>
              <a:ext uri="{FF2B5EF4-FFF2-40B4-BE49-F238E27FC236}">
                <a16:creationId xmlns:a16="http://schemas.microsoft.com/office/drawing/2014/main" id="{9757F136-BA7F-9330-1821-FE30B2AE7DBA}"/>
              </a:ext>
            </a:extLst>
          </p:cNvPr>
          <p:cNvSpPr txBox="1"/>
          <p:nvPr/>
        </p:nvSpPr>
        <p:spPr>
          <a:xfrm>
            <a:off x="5588000" y="5130800"/>
            <a:ext cx="5486400" cy="307777"/>
          </a:xfrm>
          <a:prstGeom prst="rect">
            <a:avLst/>
          </a:prstGeom>
          <a:noFill/>
        </p:spPr>
        <p:txBody>
          <a:bodyPr vert="horz" wrap="square" lIns="0" tIns="0" rIns="0" bIns="0" rtlCol="0">
            <a:noAutofit/>
          </a:bodyPr>
          <a:lstStyle/>
          <a:p>
            <a:r>
              <a:rPr lang="en-US" sz="1350" b="1">
                <a:solidFill>
                  <a:srgbClr val="171717"/>
                </a:solidFill>
                <a:latin typeface="Segoe UI" panose="020B0502040204020203" pitchFamily="34" charset="0"/>
              </a:rPr>
              <a:t>Shaped by feedback from thousands of enterprise customers and engineering teams.</a:t>
            </a:r>
            <a:endParaRPr lang="en-US" sz="1350" b="1" dirty="0" err="1">
              <a:solidFill>
                <a:srgbClr val="171717"/>
              </a:solidFill>
              <a:latin typeface="Segoe UI" panose="020B0502040204020203" pitchFamily="34" charset="0"/>
            </a:endParaRPr>
          </a:p>
        </p:txBody>
      </p:sp>
      <p:sp>
        <p:nvSpPr>
          <p:cNvPr id="46" name="TextBox 45">
            <a:extLst>
              <a:ext uri="{FF2B5EF4-FFF2-40B4-BE49-F238E27FC236}">
                <a16:creationId xmlns:a16="http://schemas.microsoft.com/office/drawing/2014/main" id="{7BC27869-3C01-AC01-3A0A-7589AA5D1A90}"/>
              </a:ext>
            </a:extLst>
          </p:cNvPr>
          <p:cNvSpPr txBox="1"/>
          <p:nvPr/>
        </p:nvSpPr>
        <p:spPr>
          <a:xfrm>
            <a:off x="584200" y="6426200"/>
            <a:ext cx="3924300" cy="307777"/>
          </a:xfrm>
          <a:prstGeom prst="rect">
            <a:avLst/>
          </a:prstGeom>
          <a:noFill/>
        </p:spPr>
        <p:txBody>
          <a:bodyPr vert="horz" wrap="square" lIns="0" tIns="0" rIns="0" bIns="0" rtlCol="0">
            <a:noAutofit/>
          </a:bodyPr>
          <a:lstStyle/>
          <a:p>
            <a:r>
              <a:rPr lang="en-US" sz="950" dirty="0">
                <a:solidFill>
                  <a:srgbClr val="60595E"/>
                </a:solidFill>
                <a:latin typeface="Segoe UI" panose="020B0502040204020203" pitchFamily="34" charset="0"/>
              </a:rPr>
              <a:t>MICROSOFT AGENT FRAMEWORK / OCTOBER 2026</a:t>
            </a:r>
          </a:p>
        </p:txBody>
      </p:sp>
      <p:sp>
        <p:nvSpPr>
          <p:cNvPr id="47" name="TextBox 46">
            <a:extLst>
              <a:ext uri="{FF2B5EF4-FFF2-40B4-BE49-F238E27FC236}">
                <a16:creationId xmlns:a16="http://schemas.microsoft.com/office/drawing/2014/main" id="{24E786CB-E823-D680-0361-1060037A315F}"/>
              </a:ext>
            </a:extLst>
          </p:cNvPr>
          <p:cNvSpPr txBox="1"/>
          <p:nvPr/>
        </p:nvSpPr>
        <p:spPr>
          <a:xfrm>
            <a:off x="4775200" y="6413500"/>
            <a:ext cx="2641600" cy="307777"/>
          </a:xfrm>
          <a:prstGeom prst="rect">
            <a:avLst/>
          </a:prstGeom>
          <a:noFill/>
        </p:spPr>
        <p:txBody>
          <a:bodyPr vert="horz" wrap="square" lIns="0" tIns="0" rIns="0" bIns="0" rtlCol="0">
            <a:noAutofit/>
          </a:bodyPr>
          <a:lstStyle/>
          <a:p>
            <a:pPr algn="ctr"/>
            <a:r>
              <a:rPr lang="en-US" sz="1050">
                <a:solidFill>
                  <a:srgbClr val="007AD4"/>
                </a:solidFill>
                <a:latin typeface="Segoe UI" panose="020B0502040204020203" pitchFamily="34" charset="0"/>
              </a:rPr>
              <a:t>Why Agent Framework</a:t>
            </a:r>
            <a:endParaRPr lang="en-US" sz="1050" dirty="0" err="1">
              <a:solidFill>
                <a:srgbClr val="007AD4"/>
              </a:solidFill>
              <a:latin typeface="Segoe UI" panose="020B0502040204020203" pitchFamily="34" charset="0"/>
            </a:endParaRPr>
          </a:p>
        </p:txBody>
      </p:sp>
      <p:sp>
        <p:nvSpPr>
          <p:cNvPr id="48" name="TextBox 47">
            <a:extLst>
              <a:ext uri="{FF2B5EF4-FFF2-40B4-BE49-F238E27FC236}">
                <a16:creationId xmlns:a16="http://schemas.microsoft.com/office/drawing/2014/main" id="{5500931C-C89D-EE69-F6C2-DD82C8CE9C71}"/>
              </a:ext>
            </a:extLst>
          </p:cNvPr>
          <p:cNvSpPr txBox="1"/>
          <p:nvPr/>
        </p:nvSpPr>
        <p:spPr>
          <a:xfrm>
            <a:off x="11188700" y="6413500"/>
            <a:ext cx="406400" cy="307777"/>
          </a:xfrm>
          <a:prstGeom prst="rect">
            <a:avLst/>
          </a:prstGeom>
          <a:noFill/>
        </p:spPr>
        <p:txBody>
          <a:bodyPr vert="horz" wrap="square" lIns="0" tIns="0" rIns="0" bIns="0" rtlCol="0">
            <a:noAutofit/>
          </a:bodyPr>
          <a:lstStyle/>
          <a:p>
            <a:pPr algn="ctr"/>
            <a:r>
              <a:rPr lang="en-US" sz="1050">
                <a:solidFill>
                  <a:srgbClr val="60595E"/>
                </a:solidFill>
                <a:latin typeface="Segoe UI" panose="020B0502040204020203" pitchFamily="34" charset="0"/>
              </a:rPr>
              <a:t>03</a:t>
            </a:r>
            <a:endParaRPr lang="en-US" sz="1050" dirty="0" err="1">
              <a:solidFill>
                <a:srgbClr val="60595E"/>
              </a:solidFill>
              <a:latin typeface="Segoe UI" panose="020B0502040204020203" pitchFamily="34" charset="0"/>
            </a:endParaRPr>
          </a:p>
        </p:txBody>
      </p:sp>
    </p:spTree>
    <p:extLst>
      <p:ext uri="{BB962C8B-B14F-4D97-AF65-F5344CB8AC3E}">
        <p14:creationId xmlns:p14="http://schemas.microsoft.com/office/powerpoint/2010/main" val="156777194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E93F4-4BCB-E520-6B32-304796FCA81E}"/>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4BD45A1C-385A-CD42-681A-E83150E15B5F}"/>
              </a:ext>
            </a:extLst>
          </p:cNvPr>
          <p:cNvPicPr>
            <a:picLocks noChangeAspect="1"/>
          </p:cNvPicPr>
          <p:nvPr/>
        </p:nvPicPr>
        <p:blipFill>
          <a:blip r:embed="rId3">
            <a:alphaModFix amt="88000"/>
          </a:blip>
          <a:srcRect t="13025" b="14408"/>
          <a:stretch>
            <a:fillRect/>
          </a:stretch>
        </p:blipFill>
        <p:spPr>
          <a:xfrm>
            <a:off x="1208421" y="0"/>
            <a:ext cx="10395317" cy="6858000"/>
          </a:xfrm>
          <a:prstGeom prst="rect">
            <a:avLst/>
          </a:prstGeom>
          <a:effectLst>
            <a:softEdge rad="381000"/>
          </a:effectLst>
        </p:spPr>
      </p:pic>
      <p:pic>
        <p:nvPicPr>
          <p:cNvPr id="4" name="Image 0" descr="preencoded.png">
            <a:extLst>
              <a:ext uri="{FF2B5EF4-FFF2-40B4-BE49-F238E27FC236}">
                <a16:creationId xmlns:a16="http://schemas.microsoft.com/office/drawing/2014/main" id="{23EF8BF5-632A-DB70-A434-AE362B2C7D58}"/>
              </a:ext>
            </a:extLst>
          </p:cNvPr>
          <p:cNvPicPr>
            <a:picLocks noChangeAspect="1"/>
          </p:cNvPicPr>
          <p:nvPr/>
        </p:nvPicPr>
        <p:blipFill>
          <a:blip r:embed="rId4"/>
          <a:stretch>
            <a:fillRect/>
          </a:stretch>
        </p:blipFill>
        <p:spPr>
          <a:xfrm>
            <a:off x="3959352" y="438912"/>
            <a:ext cx="4270248" cy="347472"/>
          </a:xfrm>
          <a:prstGeom prst="rect">
            <a:avLst/>
          </a:prstGeom>
        </p:spPr>
      </p:pic>
      <p:sp>
        <p:nvSpPr>
          <p:cNvPr id="7" name="Text 0">
            <a:extLst>
              <a:ext uri="{FF2B5EF4-FFF2-40B4-BE49-F238E27FC236}">
                <a16:creationId xmlns:a16="http://schemas.microsoft.com/office/drawing/2014/main" id="{D5ECB1E4-3854-29B0-CE0F-4C4ABB410783}"/>
              </a:ext>
            </a:extLst>
          </p:cNvPr>
          <p:cNvSpPr/>
          <p:nvPr/>
        </p:nvSpPr>
        <p:spPr>
          <a:xfrm>
            <a:off x="4050792" y="438912"/>
            <a:ext cx="408736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MICROSOFT AGENT FRAMEWORK</a:t>
            </a:r>
            <a:endParaRPr lang="en-US" sz="1300" dirty="0"/>
          </a:p>
        </p:txBody>
      </p:sp>
      <p:pic>
        <p:nvPicPr>
          <p:cNvPr id="13" name="Image 1" descr="framework icon from supplied Foundry deck">
            <a:extLst>
              <a:ext uri="{FF2B5EF4-FFF2-40B4-BE49-F238E27FC236}">
                <a16:creationId xmlns:a16="http://schemas.microsoft.com/office/drawing/2014/main" id="{F76E5B8A-D415-DE85-6709-8DA6FB2FE8CD}"/>
              </a:ext>
            </a:extLst>
          </p:cNvPr>
          <p:cNvPicPr>
            <a:picLocks noChangeAspect="1"/>
          </p:cNvPicPr>
          <p:nvPr/>
        </p:nvPicPr>
        <p:blipFill>
          <a:blip r:embed="rId5"/>
          <a:stretch>
            <a:fillRect/>
          </a:stretch>
        </p:blipFill>
        <p:spPr>
          <a:xfrm>
            <a:off x="5711628" y="1005840"/>
            <a:ext cx="765696" cy="795528"/>
          </a:xfrm>
          <a:prstGeom prst="rect">
            <a:avLst/>
          </a:prstGeom>
        </p:spPr>
      </p:pic>
      <p:sp>
        <p:nvSpPr>
          <p:cNvPr id="17" name="Text 1">
            <a:extLst>
              <a:ext uri="{FF2B5EF4-FFF2-40B4-BE49-F238E27FC236}">
                <a16:creationId xmlns:a16="http://schemas.microsoft.com/office/drawing/2014/main" id="{26D36BBC-48A9-548C-F838-5FA72E97B3D5}"/>
              </a:ext>
            </a:extLst>
          </p:cNvPr>
          <p:cNvSpPr/>
          <p:nvPr/>
        </p:nvSpPr>
        <p:spPr>
          <a:xfrm>
            <a:off x="612648" y="1901952"/>
            <a:ext cx="10972800" cy="676656"/>
          </a:xfrm>
          <a:prstGeom prst="rect">
            <a:avLst/>
          </a:prstGeom>
          <a:noFill/>
          <a:ln/>
        </p:spPr>
        <p:txBody>
          <a:bodyPr wrap="square" lIns="0" tIns="0" rIns="0" bIns="0" rtlCol="0" anchor="ctr"/>
          <a:lstStyle/>
          <a:p>
            <a:pPr marL="0" indent="0" algn="ctr">
              <a:buNone/>
            </a:pPr>
            <a:r>
              <a:rPr lang="en-US" sz="3700" b="1" dirty="0">
                <a:solidFill>
                  <a:srgbClr val="161616"/>
                </a:solidFill>
                <a:latin typeface="Segoe UI" pitchFamily="34" charset="0"/>
                <a:ea typeface="Segoe UI" pitchFamily="34" charset="-122"/>
                <a:cs typeface="Segoe UI" pitchFamily="34" charset="-120"/>
              </a:rPr>
              <a:t>From AI answers to governed action</a:t>
            </a:r>
            <a:endParaRPr lang="en-US" sz="3700" dirty="0"/>
          </a:p>
        </p:txBody>
      </p:sp>
      <p:sp>
        <p:nvSpPr>
          <p:cNvPr id="20" name="Text 2">
            <a:extLst>
              <a:ext uri="{FF2B5EF4-FFF2-40B4-BE49-F238E27FC236}">
                <a16:creationId xmlns:a16="http://schemas.microsoft.com/office/drawing/2014/main" id="{9F1C494D-23E5-0BFB-17BE-3986902DC234}"/>
              </a:ext>
            </a:extLst>
          </p:cNvPr>
          <p:cNvSpPr/>
          <p:nvPr/>
        </p:nvSpPr>
        <p:spPr>
          <a:xfrm>
            <a:off x="749808" y="2670048"/>
            <a:ext cx="10698480" cy="393192"/>
          </a:xfrm>
          <a:prstGeom prst="rect">
            <a:avLst/>
          </a:prstGeom>
          <a:noFill/>
          <a:ln/>
        </p:spPr>
        <p:txBody>
          <a:bodyPr wrap="square" lIns="0" tIns="0" rIns="0" bIns="0" rtlCol="0" anchor="ctr"/>
          <a:lstStyle/>
          <a:p>
            <a:pPr marL="0" indent="0" algn="ctr">
              <a:buNone/>
            </a:pPr>
            <a:r>
              <a:rPr lang="en-US" sz="2200" dirty="0">
                <a:solidFill>
                  <a:srgbClr val="0078D4"/>
                </a:solidFill>
                <a:latin typeface="Segoe UI" pitchFamily="34" charset="0"/>
                <a:ea typeface="Segoe UI" pitchFamily="34" charset="-122"/>
                <a:cs typeface="Segoe UI" pitchFamily="34" charset="-120"/>
              </a:rPr>
              <a:t>Agents, workflows and tools in one open-source framework.</a:t>
            </a:r>
            <a:endParaRPr lang="en-US" sz="2200" dirty="0"/>
          </a:p>
        </p:txBody>
      </p:sp>
      <p:pic>
        <p:nvPicPr>
          <p:cNvPr id="22" name="Image 2" descr="preencoded.png">
            <a:extLst>
              <a:ext uri="{FF2B5EF4-FFF2-40B4-BE49-F238E27FC236}">
                <a16:creationId xmlns:a16="http://schemas.microsoft.com/office/drawing/2014/main" id="{B47141D4-C82B-7E73-2104-3F36FC9B6DA3}"/>
              </a:ext>
            </a:extLst>
          </p:cNvPr>
          <p:cNvPicPr>
            <a:picLocks noChangeAspect="1"/>
          </p:cNvPicPr>
          <p:nvPr/>
        </p:nvPicPr>
        <p:blipFill>
          <a:blip r:embed="rId4"/>
          <a:stretch>
            <a:fillRect/>
          </a:stretch>
        </p:blipFill>
        <p:spPr>
          <a:xfrm>
            <a:off x="786384" y="3520440"/>
            <a:ext cx="2286000" cy="347472"/>
          </a:xfrm>
          <a:prstGeom prst="rect">
            <a:avLst/>
          </a:prstGeom>
        </p:spPr>
      </p:pic>
      <p:sp>
        <p:nvSpPr>
          <p:cNvPr id="25" name="Text 3">
            <a:extLst>
              <a:ext uri="{FF2B5EF4-FFF2-40B4-BE49-F238E27FC236}">
                <a16:creationId xmlns:a16="http://schemas.microsoft.com/office/drawing/2014/main" id="{6B885027-96AD-20DE-9137-5069B31D4AA4}"/>
              </a:ext>
            </a:extLst>
          </p:cNvPr>
          <p:cNvSpPr/>
          <p:nvPr/>
        </p:nvSpPr>
        <p:spPr>
          <a:xfrm>
            <a:off x="877824" y="3520440"/>
            <a:ext cx="21031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Agents</a:t>
            </a:r>
            <a:endParaRPr lang="en-US" sz="1300" dirty="0"/>
          </a:p>
        </p:txBody>
      </p:sp>
      <p:sp>
        <p:nvSpPr>
          <p:cNvPr id="27" name="Text 4">
            <a:extLst>
              <a:ext uri="{FF2B5EF4-FFF2-40B4-BE49-F238E27FC236}">
                <a16:creationId xmlns:a16="http://schemas.microsoft.com/office/drawing/2014/main" id="{7312E8C6-10F6-9131-53FA-43F398C94493}"/>
              </a:ext>
            </a:extLst>
          </p:cNvPr>
          <p:cNvSpPr/>
          <p:nvPr/>
        </p:nvSpPr>
        <p:spPr>
          <a:xfrm>
            <a:off x="694944" y="4169664"/>
            <a:ext cx="2505456" cy="694944"/>
          </a:xfrm>
          <a:prstGeom prst="rect">
            <a:avLst/>
          </a:prstGeom>
          <a:noFill/>
          <a:ln/>
        </p:spPr>
        <p:txBody>
          <a:bodyPr wrap="square" lIns="0" tIns="0" rIns="0" bIns="0" rtlCol="0" anchor="ctr"/>
          <a:lstStyle/>
          <a:p>
            <a:pPr marL="0" indent="0" algn="ctr">
              <a:buNone/>
            </a:pPr>
            <a:r>
              <a:rPr lang="en-US" sz="2100" b="1" dirty="0">
                <a:solidFill>
                  <a:srgbClr val="161616"/>
                </a:solidFill>
                <a:latin typeface="Segoe UI" pitchFamily="34" charset="0"/>
                <a:ea typeface="Segoe UI" pitchFamily="34" charset="-122"/>
                <a:cs typeface="Segoe UI" pitchFamily="34" charset="-120"/>
              </a:rPr>
              <a:t>Models, tools</a:t>
            </a:r>
            <a:endParaRPr lang="en-US" sz="2100" dirty="0"/>
          </a:p>
          <a:p>
            <a:pPr marL="0" indent="0" algn="ctr">
              <a:buNone/>
            </a:pPr>
            <a:r>
              <a:rPr lang="en-US" sz="2100" b="1" dirty="0">
                <a:solidFill>
                  <a:srgbClr val="161616"/>
                </a:solidFill>
                <a:latin typeface="Segoe UI" pitchFamily="34" charset="0"/>
                <a:ea typeface="Segoe UI" pitchFamily="34" charset="-122"/>
                <a:cs typeface="Segoe UI" pitchFamily="34" charset="-120"/>
              </a:rPr>
              <a:t>and sessions</a:t>
            </a:r>
            <a:endParaRPr lang="en-US" sz="2100" dirty="0"/>
          </a:p>
        </p:txBody>
      </p:sp>
      <p:sp>
        <p:nvSpPr>
          <p:cNvPr id="29" name="Text 5">
            <a:extLst>
              <a:ext uri="{FF2B5EF4-FFF2-40B4-BE49-F238E27FC236}">
                <a16:creationId xmlns:a16="http://schemas.microsoft.com/office/drawing/2014/main" id="{4F9C7D15-19DB-A3D1-D186-EDF563F968C4}"/>
              </a:ext>
            </a:extLst>
          </p:cNvPr>
          <p:cNvSpPr/>
          <p:nvPr/>
        </p:nvSpPr>
        <p:spPr>
          <a:xfrm>
            <a:off x="694944" y="5038344"/>
            <a:ext cx="2505456" cy="594360"/>
          </a:xfrm>
          <a:prstGeom prst="rect">
            <a:avLst/>
          </a:prstGeom>
          <a:noFill/>
          <a:ln/>
        </p:spPr>
        <p:txBody>
          <a:bodyPr wrap="square" lIns="0" tIns="0" rIns="0" bIns="0" rtlCol="0" anchor="ctr"/>
          <a:lstStyle/>
          <a:p>
            <a:pPr marL="0" indent="0" algn="ctr">
              <a:buNone/>
            </a:pPr>
            <a:r>
              <a:rPr lang="en-US" sz="1600" dirty="0">
                <a:solidFill>
                  <a:srgbClr val="53535D"/>
                </a:solidFill>
                <a:latin typeface="Segoe UI" pitchFamily="34" charset="0"/>
                <a:ea typeface="Segoe UI" pitchFamily="34" charset="-122"/>
                <a:cs typeface="Segoe UI" pitchFamily="34" charset="-120"/>
              </a:rPr>
              <a:t>Ground answers in</a:t>
            </a:r>
            <a:endParaRPr lang="en-US" sz="1600" dirty="0"/>
          </a:p>
          <a:p>
            <a:pPr marL="0" indent="0" algn="ctr">
              <a:buNone/>
            </a:pPr>
            <a:r>
              <a:rPr lang="en-US" sz="1600" dirty="0">
                <a:solidFill>
                  <a:srgbClr val="53535D"/>
                </a:solidFill>
                <a:latin typeface="Segoe UI" pitchFamily="34" charset="0"/>
                <a:ea typeface="Segoe UI" pitchFamily="34" charset="-122"/>
                <a:cs typeface="Segoe UI" pitchFamily="34" charset="-120"/>
              </a:rPr>
              <a:t>business context.</a:t>
            </a:r>
            <a:endParaRPr lang="en-US" sz="1600" dirty="0"/>
          </a:p>
        </p:txBody>
      </p:sp>
      <p:sp>
        <p:nvSpPr>
          <p:cNvPr id="31" name="Shape 6">
            <a:extLst>
              <a:ext uri="{FF2B5EF4-FFF2-40B4-BE49-F238E27FC236}">
                <a16:creationId xmlns:a16="http://schemas.microsoft.com/office/drawing/2014/main" id="{EE0D91AD-E559-A102-C1E5-D178D834849C}"/>
              </a:ext>
            </a:extLst>
          </p:cNvPr>
          <p:cNvSpPr/>
          <p:nvPr/>
        </p:nvSpPr>
        <p:spPr>
          <a:xfrm>
            <a:off x="3355848" y="4069080"/>
            <a:ext cx="0" cy="1600200"/>
          </a:xfrm>
          <a:prstGeom prst="line">
            <a:avLst/>
          </a:prstGeom>
          <a:noFill/>
          <a:ln w="16510">
            <a:solidFill>
              <a:srgbClr val="B8B1C0"/>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E0BEE605-E6DC-E8CA-5C84-BBD3B0BCD796}"/>
              </a:ext>
            </a:extLst>
          </p:cNvPr>
          <p:cNvPicPr>
            <a:picLocks noChangeAspect="1"/>
          </p:cNvPicPr>
          <p:nvPr/>
        </p:nvPicPr>
        <p:blipFill>
          <a:blip r:embed="rId4"/>
          <a:stretch>
            <a:fillRect/>
          </a:stretch>
        </p:blipFill>
        <p:spPr>
          <a:xfrm>
            <a:off x="3602736" y="3520440"/>
            <a:ext cx="2286000" cy="347472"/>
          </a:xfrm>
          <a:prstGeom prst="rect">
            <a:avLst/>
          </a:prstGeom>
        </p:spPr>
      </p:pic>
      <p:sp>
        <p:nvSpPr>
          <p:cNvPr id="39" name="Text 7">
            <a:extLst>
              <a:ext uri="{FF2B5EF4-FFF2-40B4-BE49-F238E27FC236}">
                <a16:creationId xmlns:a16="http://schemas.microsoft.com/office/drawing/2014/main" id="{872E6D37-78A2-F3DA-4055-C30978A36B67}"/>
              </a:ext>
            </a:extLst>
          </p:cNvPr>
          <p:cNvSpPr/>
          <p:nvPr/>
        </p:nvSpPr>
        <p:spPr>
          <a:xfrm>
            <a:off x="3694176" y="3520440"/>
            <a:ext cx="21031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Workflows</a:t>
            </a:r>
            <a:endParaRPr lang="en-US" sz="1300" dirty="0"/>
          </a:p>
        </p:txBody>
      </p:sp>
      <p:sp>
        <p:nvSpPr>
          <p:cNvPr id="41" name="Text 8">
            <a:extLst>
              <a:ext uri="{FF2B5EF4-FFF2-40B4-BE49-F238E27FC236}">
                <a16:creationId xmlns:a16="http://schemas.microsoft.com/office/drawing/2014/main" id="{6A088DE0-5130-7B2D-3AB2-EEA9AE9D8042}"/>
              </a:ext>
            </a:extLst>
          </p:cNvPr>
          <p:cNvSpPr/>
          <p:nvPr/>
        </p:nvSpPr>
        <p:spPr>
          <a:xfrm>
            <a:off x="3511296" y="4169664"/>
            <a:ext cx="2505456" cy="694944"/>
          </a:xfrm>
          <a:prstGeom prst="rect">
            <a:avLst/>
          </a:prstGeom>
          <a:noFill/>
          <a:ln/>
        </p:spPr>
        <p:txBody>
          <a:bodyPr wrap="square" lIns="0" tIns="0" rIns="0" bIns="0" rtlCol="0" anchor="ctr"/>
          <a:lstStyle/>
          <a:p>
            <a:pPr marL="0" indent="0" algn="ctr">
              <a:buNone/>
            </a:pPr>
            <a:r>
              <a:rPr lang="en-US" sz="2100" b="1" dirty="0">
                <a:solidFill>
                  <a:srgbClr val="161616"/>
                </a:solidFill>
                <a:latin typeface="Segoe UI" pitchFamily="34" charset="0"/>
                <a:ea typeface="Segoe UI" pitchFamily="34" charset="-122"/>
                <a:cs typeface="Segoe UI" pitchFamily="34" charset="-120"/>
              </a:rPr>
              <a:t>Explicit paths</a:t>
            </a:r>
            <a:endParaRPr lang="en-US" sz="2100" dirty="0"/>
          </a:p>
          <a:p>
            <a:pPr marL="0" indent="0" algn="ctr">
              <a:buNone/>
            </a:pPr>
            <a:r>
              <a:rPr lang="en-US" sz="2100" b="1" dirty="0">
                <a:solidFill>
                  <a:srgbClr val="161616"/>
                </a:solidFill>
                <a:latin typeface="Segoe UI" pitchFamily="34" charset="0"/>
                <a:ea typeface="Segoe UI" pitchFamily="34" charset="-122"/>
                <a:cs typeface="Segoe UI" pitchFamily="34" charset="-120"/>
              </a:rPr>
              <a:t>and human input</a:t>
            </a:r>
            <a:endParaRPr lang="en-US" sz="2100" dirty="0"/>
          </a:p>
        </p:txBody>
      </p:sp>
      <p:sp>
        <p:nvSpPr>
          <p:cNvPr id="43" name="Text 9">
            <a:extLst>
              <a:ext uri="{FF2B5EF4-FFF2-40B4-BE49-F238E27FC236}">
                <a16:creationId xmlns:a16="http://schemas.microsoft.com/office/drawing/2014/main" id="{4BD6FB36-E3B1-E713-DD23-97328B164C35}"/>
              </a:ext>
            </a:extLst>
          </p:cNvPr>
          <p:cNvSpPr/>
          <p:nvPr/>
        </p:nvSpPr>
        <p:spPr>
          <a:xfrm>
            <a:off x="3511296" y="5038344"/>
            <a:ext cx="2505456" cy="594360"/>
          </a:xfrm>
          <a:prstGeom prst="rect">
            <a:avLst/>
          </a:prstGeom>
          <a:noFill/>
          <a:ln/>
        </p:spPr>
        <p:txBody>
          <a:bodyPr wrap="square" lIns="0" tIns="0" rIns="0" bIns="0" rtlCol="0" anchor="ctr"/>
          <a:lstStyle/>
          <a:p>
            <a:pPr marL="0" indent="0" algn="ctr">
              <a:buNone/>
            </a:pPr>
            <a:r>
              <a:rPr lang="en-US" sz="1600" dirty="0">
                <a:solidFill>
                  <a:srgbClr val="53535D"/>
                </a:solidFill>
                <a:latin typeface="Segoe UI" pitchFamily="34" charset="0"/>
                <a:ea typeface="Segoe UI" pitchFamily="34" charset="-122"/>
                <a:cs typeface="Segoe UI" pitchFamily="34" charset="-120"/>
              </a:rPr>
              <a:t>Keep the process</a:t>
            </a:r>
            <a:endParaRPr lang="en-US" sz="1600" dirty="0"/>
          </a:p>
          <a:p>
            <a:pPr marL="0" indent="0" algn="ctr">
              <a:buNone/>
            </a:pPr>
            <a:r>
              <a:rPr lang="en-US" sz="1600" dirty="0">
                <a:solidFill>
                  <a:srgbClr val="53535D"/>
                </a:solidFill>
                <a:latin typeface="Segoe UI" pitchFamily="34" charset="0"/>
                <a:ea typeface="Segoe UI" pitchFamily="34" charset="-122"/>
                <a:cs typeface="Segoe UI" pitchFamily="34" charset="-120"/>
              </a:rPr>
              <a:t>inspectable.</a:t>
            </a:r>
            <a:endParaRPr lang="en-US" sz="1600" dirty="0"/>
          </a:p>
        </p:txBody>
      </p:sp>
      <p:sp>
        <p:nvSpPr>
          <p:cNvPr id="45" name="Shape 10">
            <a:extLst>
              <a:ext uri="{FF2B5EF4-FFF2-40B4-BE49-F238E27FC236}">
                <a16:creationId xmlns:a16="http://schemas.microsoft.com/office/drawing/2014/main" id="{BAEBE8C4-FC72-4285-1505-069D49E7D3FA}"/>
              </a:ext>
            </a:extLst>
          </p:cNvPr>
          <p:cNvSpPr/>
          <p:nvPr/>
        </p:nvSpPr>
        <p:spPr>
          <a:xfrm>
            <a:off x="6172200" y="4069080"/>
            <a:ext cx="0" cy="1600200"/>
          </a:xfrm>
          <a:prstGeom prst="line">
            <a:avLst/>
          </a:prstGeom>
          <a:noFill/>
          <a:ln w="16510">
            <a:solidFill>
              <a:srgbClr val="B8B1C0"/>
            </a:solidFill>
            <a:prstDash val="solid"/>
          </a:ln>
        </p:spPr>
        <p:txBody>
          <a:bodyPr/>
          <a:lstStyle/>
          <a:p>
            <a:endParaRPr lang="en-US"/>
          </a:p>
        </p:txBody>
      </p:sp>
      <p:pic>
        <p:nvPicPr>
          <p:cNvPr id="47" name="Image 4" descr="preencoded.png">
            <a:extLst>
              <a:ext uri="{FF2B5EF4-FFF2-40B4-BE49-F238E27FC236}">
                <a16:creationId xmlns:a16="http://schemas.microsoft.com/office/drawing/2014/main" id="{DADA5007-162F-E285-79B6-C500D25AFA52}"/>
              </a:ext>
            </a:extLst>
          </p:cNvPr>
          <p:cNvPicPr>
            <a:picLocks noChangeAspect="1"/>
          </p:cNvPicPr>
          <p:nvPr/>
        </p:nvPicPr>
        <p:blipFill>
          <a:blip r:embed="rId4"/>
          <a:stretch>
            <a:fillRect/>
          </a:stretch>
        </p:blipFill>
        <p:spPr>
          <a:xfrm>
            <a:off x="6419088" y="3520440"/>
            <a:ext cx="2286000" cy="347472"/>
          </a:xfrm>
          <a:prstGeom prst="rect">
            <a:avLst/>
          </a:prstGeom>
        </p:spPr>
      </p:pic>
      <p:sp>
        <p:nvSpPr>
          <p:cNvPr id="49" name="Text 11">
            <a:extLst>
              <a:ext uri="{FF2B5EF4-FFF2-40B4-BE49-F238E27FC236}">
                <a16:creationId xmlns:a16="http://schemas.microsoft.com/office/drawing/2014/main" id="{117E5EC7-B293-D92E-9FA8-0BC5BBB44FF0}"/>
              </a:ext>
            </a:extLst>
          </p:cNvPr>
          <p:cNvSpPr/>
          <p:nvPr/>
        </p:nvSpPr>
        <p:spPr>
          <a:xfrm>
            <a:off x="6510528" y="3520440"/>
            <a:ext cx="21031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Agent harness</a:t>
            </a:r>
            <a:endParaRPr lang="en-US" sz="1300" dirty="0"/>
          </a:p>
        </p:txBody>
      </p:sp>
      <p:sp>
        <p:nvSpPr>
          <p:cNvPr id="51" name="Text 12">
            <a:extLst>
              <a:ext uri="{FF2B5EF4-FFF2-40B4-BE49-F238E27FC236}">
                <a16:creationId xmlns:a16="http://schemas.microsoft.com/office/drawing/2014/main" id="{F9BF38C6-385A-ECF3-3C9F-E7CCC59340C1}"/>
              </a:ext>
            </a:extLst>
          </p:cNvPr>
          <p:cNvSpPr/>
          <p:nvPr/>
        </p:nvSpPr>
        <p:spPr>
          <a:xfrm>
            <a:off x="6327648" y="4169664"/>
            <a:ext cx="2505456" cy="694944"/>
          </a:xfrm>
          <a:prstGeom prst="rect">
            <a:avLst/>
          </a:prstGeom>
          <a:noFill/>
          <a:ln/>
        </p:spPr>
        <p:txBody>
          <a:bodyPr wrap="square" lIns="0" tIns="0" rIns="0" bIns="0" rtlCol="0" anchor="ctr"/>
          <a:lstStyle/>
          <a:p>
            <a:pPr marL="0" indent="0" algn="ctr">
              <a:buNone/>
            </a:pPr>
            <a:r>
              <a:rPr lang="en-US" sz="2100" b="1" dirty="0">
                <a:solidFill>
                  <a:srgbClr val="161616"/>
                </a:solidFill>
                <a:latin typeface="Segoe UI" pitchFamily="34" charset="0"/>
                <a:ea typeface="Segoe UI" pitchFamily="34" charset="-122"/>
                <a:cs typeface="Segoe UI" pitchFamily="34" charset="-120"/>
              </a:rPr>
              <a:t>Planning</a:t>
            </a:r>
            <a:endParaRPr lang="en-US" sz="2100" dirty="0"/>
          </a:p>
          <a:p>
            <a:pPr marL="0" indent="0" algn="ctr">
              <a:buNone/>
            </a:pPr>
            <a:r>
              <a:rPr lang="en-US" sz="2100" b="1" dirty="0">
                <a:solidFill>
                  <a:srgbClr val="161616"/>
                </a:solidFill>
                <a:latin typeface="Segoe UI" pitchFamily="34" charset="0"/>
                <a:ea typeface="Segoe UI" pitchFamily="34" charset="-122"/>
                <a:cs typeface="Segoe UI" pitchFamily="34" charset="-120"/>
              </a:rPr>
              <a:t>and memory</a:t>
            </a:r>
            <a:endParaRPr lang="en-US" sz="2100" dirty="0"/>
          </a:p>
        </p:txBody>
      </p:sp>
      <p:sp>
        <p:nvSpPr>
          <p:cNvPr id="53" name="Text 13">
            <a:extLst>
              <a:ext uri="{FF2B5EF4-FFF2-40B4-BE49-F238E27FC236}">
                <a16:creationId xmlns:a16="http://schemas.microsoft.com/office/drawing/2014/main" id="{E5BC8884-E957-9FDB-FF0E-B9FE6D2F14F1}"/>
              </a:ext>
            </a:extLst>
          </p:cNvPr>
          <p:cNvSpPr/>
          <p:nvPr/>
        </p:nvSpPr>
        <p:spPr>
          <a:xfrm>
            <a:off x="6327648" y="5038344"/>
            <a:ext cx="2505456" cy="594360"/>
          </a:xfrm>
          <a:prstGeom prst="rect">
            <a:avLst/>
          </a:prstGeom>
          <a:noFill/>
          <a:ln/>
        </p:spPr>
        <p:txBody>
          <a:bodyPr wrap="square" lIns="0" tIns="0" rIns="0" bIns="0" rtlCol="0" anchor="ctr"/>
          <a:lstStyle/>
          <a:p>
            <a:pPr marL="0" indent="0" algn="ctr">
              <a:buNone/>
            </a:pPr>
            <a:r>
              <a:rPr lang="en-US" sz="1600" dirty="0">
                <a:solidFill>
                  <a:srgbClr val="53535D"/>
                </a:solidFill>
                <a:latin typeface="Segoe UI" pitchFamily="34" charset="0"/>
                <a:ea typeface="Segoe UI" pitchFamily="34" charset="-122"/>
                <a:cs typeface="Segoe UI" pitchFamily="34" charset="-120"/>
              </a:rPr>
              <a:t>Support longer,</a:t>
            </a:r>
            <a:endParaRPr lang="en-US" sz="1600" dirty="0"/>
          </a:p>
          <a:p>
            <a:pPr marL="0" indent="0" algn="ctr">
              <a:buNone/>
            </a:pPr>
            <a:r>
              <a:rPr lang="en-US" sz="1600" dirty="0">
                <a:solidFill>
                  <a:srgbClr val="53535D"/>
                </a:solidFill>
                <a:latin typeface="Segoe UI" pitchFamily="34" charset="0"/>
                <a:ea typeface="Segoe UI" pitchFamily="34" charset="-122"/>
                <a:cs typeface="Segoe UI" pitchFamily="34" charset="-120"/>
              </a:rPr>
              <a:t>multi-step tasks.</a:t>
            </a:r>
            <a:endParaRPr lang="en-US" sz="1600" dirty="0"/>
          </a:p>
        </p:txBody>
      </p:sp>
      <p:sp>
        <p:nvSpPr>
          <p:cNvPr id="55" name="Shape 14">
            <a:extLst>
              <a:ext uri="{FF2B5EF4-FFF2-40B4-BE49-F238E27FC236}">
                <a16:creationId xmlns:a16="http://schemas.microsoft.com/office/drawing/2014/main" id="{C97EE11F-79AE-B4E4-D9AB-B1F238A67DFA}"/>
              </a:ext>
            </a:extLst>
          </p:cNvPr>
          <p:cNvSpPr/>
          <p:nvPr/>
        </p:nvSpPr>
        <p:spPr>
          <a:xfrm>
            <a:off x="8988552" y="4069080"/>
            <a:ext cx="0" cy="1600200"/>
          </a:xfrm>
          <a:prstGeom prst="line">
            <a:avLst/>
          </a:prstGeom>
          <a:noFill/>
          <a:ln w="16510">
            <a:solidFill>
              <a:srgbClr val="B8B1C0"/>
            </a:solidFill>
            <a:prstDash val="solid"/>
          </a:ln>
        </p:spPr>
        <p:txBody>
          <a:bodyPr/>
          <a:lstStyle/>
          <a:p>
            <a:endParaRPr lang="en-US"/>
          </a:p>
        </p:txBody>
      </p:sp>
      <p:pic>
        <p:nvPicPr>
          <p:cNvPr id="57" name="Image 5" descr="preencoded.png">
            <a:extLst>
              <a:ext uri="{FF2B5EF4-FFF2-40B4-BE49-F238E27FC236}">
                <a16:creationId xmlns:a16="http://schemas.microsoft.com/office/drawing/2014/main" id="{56541B07-13F5-9DBA-5B5A-51EE35E4A6BF}"/>
              </a:ext>
            </a:extLst>
          </p:cNvPr>
          <p:cNvPicPr>
            <a:picLocks noChangeAspect="1"/>
          </p:cNvPicPr>
          <p:nvPr/>
        </p:nvPicPr>
        <p:blipFill>
          <a:blip r:embed="rId4"/>
          <a:stretch>
            <a:fillRect/>
          </a:stretch>
        </p:blipFill>
        <p:spPr>
          <a:xfrm>
            <a:off x="9235440" y="3520440"/>
            <a:ext cx="2286000" cy="347472"/>
          </a:xfrm>
          <a:prstGeom prst="rect">
            <a:avLst/>
          </a:prstGeom>
        </p:spPr>
      </p:pic>
      <p:sp>
        <p:nvSpPr>
          <p:cNvPr id="59" name="Text 15">
            <a:extLst>
              <a:ext uri="{FF2B5EF4-FFF2-40B4-BE49-F238E27FC236}">
                <a16:creationId xmlns:a16="http://schemas.microsoft.com/office/drawing/2014/main" id="{467E39F3-7B07-A8AF-286F-EB5B4C58DBB3}"/>
              </a:ext>
            </a:extLst>
          </p:cNvPr>
          <p:cNvSpPr/>
          <p:nvPr/>
        </p:nvSpPr>
        <p:spPr>
          <a:xfrm>
            <a:off x="9326880" y="3520440"/>
            <a:ext cx="21031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Integrations</a:t>
            </a:r>
            <a:endParaRPr lang="en-US" sz="1300" dirty="0"/>
          </a:p>
        </p:txBody>
      </p:sp>
      <p:sp>
        <p:nvSpPr>
          <p:cNvPr id="61" name="Text 16">
            <a:extLst>
              <a:ext uri="{FF2B5EF4-FFF2-40B4-BE49-F238E27FC236}">
                <a16:creationId xmlns:a16="http://schemas.microsoft.com/office/drawing/2014/main" id="{CD164BD7-6267-6AC1-AD10-E918D34C8002}"/>
              </a:ext>
            </a:extLst>
          </p:cNvPr>
          <p:cNvSpPr/>
          <p:nvPr/>
        </p:nvSpPr>
        <p:spPr>
          <a:xfrm>
            <a:off x="9144000" y="4169664"/>
            <a:ext cx="2505456" cy="694944"/>
          </a:xfrm>
          <a:prstGeom prst="rect">
            <a:avLst/>
          </a:prstGeom>
          <a:noFill/>
          <a:ln/>
        </p:spPr>
        <p:txBody>
          <a:bodyPr wrap="square" lIns="0" tIns="0" rIns="0" bIns="0" rtlCol="0" anchor="ctr"/>
          <a:lstStyle/>
          <a:p>
            <a:pPr marL="0" indent="0" algn="ctr">
              <a:buNone/>
            </a:pPr>
            <a:r>
              <a:rPr lang="en-US" sz="2100" b="1" dirty="0">
                <a:solidFill>
                  <a:srgbClr val="161616"/>
                </a:solidFill>
                <a:latin typeface="Segoe UI" pitchFamily="34" charset="0"/>
                <a:ea typeface="Segoe UI" pitchFamily="34" charset="-122"/>
                <a:cs typeface="Segoe UI" pitchFamily="34" charset="-120"/>
              </a:rPr>
              <a:t>MCP, middleware</a:t>
            </a:r>
            <a:endParaRPr lang="en-US" sz="2100" dirty="0"/>
          </a:p>
          <a:p>
            <a:pPr marL="0" indent="0" algn="ctr">
              <a:buNone/>
            </a:pPr>
            <a:r>
              <a:rPr lang="en-US" sz="2100" b="1" dirty="0">
                <a:solidFill>
                  <a:srgbClr val="161616"/>
                </a:solidFill>
                <a:latin typeface="Segoe UI" pitchFamily="34" charset="0"/>
                <a:ea typeface="Segoe UI" pitchFamily="34" charset="-122"/>
                <a:cs typeface="Segoe UI" pitchFamily="34" charset="-120"/>
              </a:rPr>
              <a:t>and telemetry</a:t>
            </a:r>
            <a:endParaRPr lang="en-US" sz="2100" dirty="0"/>
          </a:p>
        </p:txBody>
      </p:sp>
      <p:sp>
        <p:nvSpPr>
          <p:cNvPr id="63" name="Text 17">
            <a:extLst>
              <a:ext uri="{FF2B5EF4-FFF2-40B4-BE49-F238E27FC236}">
                <a16:creationId xmlns:a16="http://schemas.microsoft.com/office/drawing/2014/main" id="{358A03BC-3F9C-67ED-7389-9CA249746BD6}"/>
              </a:ext>
            </a:extLst>
          </p:cNvPr>
          <p:cNvSpPr/>
          <p:nvPr/>
        </p:nvSpPr>
        <p:spPr>
          <a:xfrm>
            <a:off x="9144000" y="5038344"/>
            <a:ext cx="2505456" cy="594360"/>
          </a:xfrm>
          <a:prstGeom prst="rect">
            <a:avLst/>
          </a:prstGeom>
          <a:noFill/>
          <a:ln/>
        </p:spPr>
        <p:txBody>
          <a:bodyPr wrap="square" lIns="0" tIns="0" rIns="0" bIns="0" rtlCol="0" anchor="ctr"/>
          <a:lstStyle/>
          <a:p>
            <a:pPr marL="0" indent="0" algn="ctr">
              <a:buNone/>
            </a:pPr>
            <a:r>
              <a:rPr lang="en-US" sz="1600" dirty="0">
                <a:solidFill>
                  <a:srgbClr val="53535D"/>
                </a:solidFill>
                <a:latin typeface="Segoe UI" pitchFamily="34" charset="0"/>
                <a:ea typeface="Segoe UI" pitchFamily="34" charset="-122"/>
                <a:cs typeface="Segoe UI" pitchFamily="34" charset="-120"/>
              </a:rPr>
              <a:t>Reuse your tools</a:t>
            </a:r>
            <a:endParaRPr lang="en-US" sz="1600" dirty="0"/>
          </a:p>
          <a:p>
            <a:pPr marL="0" indent="0" algn="ctr">
              <a:buNone/>
            </a:pPr>
            <a:r>
              <a:rPr lang="en-US" sz="1600" dirty="0">
                <a:solidFill>
                  <a:srgbClr val="53535D"/>
                </a:solidFill>
                <a:latin typeface="Segoe UI" pitchFamily="34" charset="0"/>
                <a:ea typeface="Segoe UI" pitchFamily="34" charset="-122"/>
                <a:cs typeface="Segoe UI" pitchFamily="34" charset="-120"/>
              </a:rPr>
              <a:t>and model providers.</a:t>
            </a:r>
            <a:endParaRPr lang="en-US" sz="1600" dirty="0"/>
          </a:p>
        </p:txBody>
      </p:sp>
      <p:pic>
        <p:nvPicPr>
          <p:cNvPr id="65" name="Image 6" descr="python icon from supplied Foundry deck">
            <a:extLst>
              <a:ext uri="{FF2B5EF4-FFF2-40B4-BE49-F238E27FC236}">
                <a16:creationId xmlns:a16="http://schemas.microsoft.com/office/drawing/2014/main" id="{0341AF76-4B20-2B62-D436-2E720B15277E}"/>
              </a:ext>
            </a:extLst>
          </p:cNvPr>
          <p:cNvPicPr>
            <a:picLocks noChangeAspect="1"/>
          </p:cNvPicPr>
          <p:nvPr/>
        </p:nvPicPr>
        <p:blipFill>
          <a:blip r:embed="rId6"/>
          <a:stretch>
            <a:fillRect/>
          </a:stretch>
        </p:blipFill>
        <p:spPr>
          <a:xfrm>
            <a:off x="3474720" y="5925312"/>
            <a:ext cx="246888" cy="246888"/>
          </a:xfrm>
          <a:prstGeom prst="rect">
            <a:avLst/>
          </a:prstGeom>
        </p:spPr>
      </p:pic>
      <p:pic>
        <p:nvPicPr>
          <p:cNvPr id="67" name="Image 7" descr="dotnet icon from supplied Foundry deck">
            <a:extLst>
              <a:ext uri="{FF2B5EF4-FFF2-40B4-BE49-F238E27FC236}">
                <a16:creationId xmlns:a16="http://schemas.microsoft.com/office/drawing/2014/main" id="{5716E4DC-18EA-91F3-F394-6D4597A58B4E}"/>
              </a:ext>
            </a:extLst>
          </p:cNvPr>
          <p:cNvPicPr>
            <a:picLocks noChangeAspect="1"/>
          </p:cNvPicPr>
          <p:nvPr/>
        </p:nvPicPr>
        <p:blipFill>
          <a:blip r:embed="rId7"/>
          <a:stretch>
            <a:fillRect/>
          </a:stretch>
        </p:blipFill>
        <p:spPr>
          <a:xfrm>
            <a:off x="3813048" y="5925312"/>
            <a:ext cx="246888" cy="246888"/>
          </a:xfrm>
          <a:prstGeom prst="rect">
            <a:avLst/>
          </a:prstGeom>
        </p:spPr>
      </p:pic>
      <p:sp>
        <p:nvSpPr>
          <p:cNvPr id="69" name="Text 18">
            <a:extLst>
              <a:ext uri="{FF2B5EF4-FFF2-40B4-BE49-F238E27FC236}">
                <a16:creationId xmlns:a16="http://schemas.microsoft.com/office/drawing/2014/main" id="{6A9C35AE-95BB-5EF4-9A2F-547DC41675C6}"/>
              </a:ext>
            </a:extLst>
          </p:cNvPr>
          <p:cNvSpPr/>
          <p:nvPr/>
        </p:nvSpPr>
        <p:spPr>
          <a:xfrm>
            <a:off x="4215384" y="5888736"/>
            <a:ext cx="4937760" cy="301752"/>
          </a:xfrm>
          <a:prstGeom prst="rect">
            <a:avLst/>
          </a:prstGeom>
          <a:noFill/>
          <a:ln/>
        </p:spPr>
        <p:txBody>
          <a:bodyPr wrap="square" lIns="0" tIns="0" rIns="0" bIns="0" rtlCol="0" anchor="ctr"/>
          <a:lstStyle/>
          <a:p>
            <a:pPr marL="0" indent="0">
              <a:buNone/>
            </a:pPr>
            <a:r>
              <a:rPr lang="en-US" sz="1300" dirty="0">
                <a:solidFill>
                  <a:srgbClr val="53535D"/>
                </a:solidFill>
                <a:latin typeface="Segoe UI" pitchFamily="34" charset="0"/>
                <a:ea typeface="Segoe UI" pitchFamily="34" charset="-122"/>
                <a:cs typeface="Segoe UI" pitchFamily="34" charset="-120"/>
              </a:rPr>
              <a:t>Python + .NET   |   Multiple providers   |   Local or cloud</a:t>
            </a:r>
            <a:endParaRPr lang="en-US" sz="1300" dirty="0"/>
          </a:p>
        </p:txBody>
      </p:sp>
      <p:sp>
        <p:nvSpPr>
          <p:cNvPr id="71" name="Text 19">
            <a:extLst>
              <a:ext uri="{FF2B5EF4-FFF2-40B4-BE49-F238E27FC236}">
                <a16:creationId xmlns:a16="http://schemas.microsoft.com/office/drawing/2014/main" id="{DE598040-A74C-75D4-6400-2009FA02C9D4}"/>
              </a:ext>
            </a:extLst>
          </p:cNvPr>
          <p:cNvSpPr/>
          <p:nvPr/>
        </p:nvSpPr>
        <p:spPr>
          <a:xfrm>
            <a:off x="585216" y="6437376"/>
            <a:ext cx="3931920" cy="201168"/>
          </a:xfrm>
          <a:prstGeom prst="rect">
            <a:avLst/>
          </a:prstGeom>
          <a:noFill/>
          <a:ln/>
        </p:spPr>
        <p:txBody>
          <a:bodyPr wrap="square" lIns="0" tIns="0" rIns="0" bIns="0" rtlCol="0" anchor="ctr"/>
          <a:lstStyle/>
          <a:p>
            <a:pPr marL="0" indent="0">
              <a:buNone/>
            </a:pPr>
            <a:r>
              <a:rPr lang="en-US" sz="950" dirty="0">
                <a:solidFill>
                  <a:srgbClr val="53535D"/>
                </a:solidFill>
                <a:latin typeface="Segoe UI" pitchFamily="34" charset="0"/>
                <a:ea typeface="Segoe UI" pitchFamily="34" charset="-122"/>
                <a:cs typeface="Segoe UI" pitchFamily="34" charset="-120"/>
              </a:rPr>
              <a:t>MICROSOFT AGENT FRAMEWORK / OCTOBER 2026</a:t>
            </a:r>
            <a:endParaRPr lang="en-US" sz="950" dirty="0"/>
          </a:p>
        </p:txBody>
      </p:sp>
      <p:sp>
        <p:nvSpPr>
          <p:cNvPr id="73" name="Text 20">
            <a:hlinkClick r:id="rId8"/>
            <a:extLst>
              <a:ext uri="{FF2B5EF4-FFF2-40B4-BE49-F238E27FC236}">
                <a16:creationId xmlns:a16="http://schemas.microsoft.com/office/drawing/2014/main" id="{F8E73789-C3D9-843F-1CDC-E8DEDB7BB654}"/>
              </a:ext>
            </a:extLst>
          </p:cNvPr>
          <p:cNvSpPr/>
          <p:nvPr/>
        </p:nvSpPr>
        <p:spPr>
          <a:xfrm>
            <a:off x="4782312" y="6419088"/>
            <a:ext cx="2651760" cy="228600"/>
          </a:xfrm>
          <a:prstGeom prst="rect">
            <a:avLst/>
          </a:prstGeom>
          <a:noFill/>
          <a:ln/>
        </p:spPr>
        <p:txBody>
          <a:bodyPr wrap="square" lIns="0" tIns="0" rIns="0" bIns="0" rtlCol="0" anchor="ctr"/>
          <a:lstStyle/>
          <a:p>
            <a:pPr marL="0" indent="0">
              <a:buNone/>
            </a:pPr>
            <a:r>
              <a:rPr lang="en-US" sz="1050" u="sng" dirty="0">
                <a:solidFill>
                  <a:srgbClr val="0078D4"/>
                </a:solidFill>
                <a:latin typeface="Segoe UI" pitchFamily="34" charset="0"/>
                <a:ea typeface="Segoe UI" pitchFamily="34" charset="-122"/>
                <a:cs typeface="Segoe UI" pitchFamily="34" charset="-120"/>
                <a:hlinkClick r:id="rId8">
                  <a:extLst>
                    <a:ext uri="{A12FA001-AC4F-418D-AE19-62706E023703}">
                      <ahyp:hlinkClr xmlns:ahyp="http://schemas.microsoft.com/office/drawing/2018/hyperlinkcolor" val="tx"/>
                    </a:ext>
                  </a:extLst>
                </a:hlinkClick>
              </a:rPr>
              <a:t>Agent Framework overview</a:t>
            </a:r>
            <a:endParaRPr lang="en-US" sz="1050" dirty="0"/>
          </a:p>
        </p:txBody>
      </p:sp>
      <p:sp>
        <p:nvSpPr>
          <p:cNvPr id="75" name="Text 21">
            <a:extLst>
              <a:ext uri="{FF2B5EF4-FFF2-40B4-BE49-F238E27FC236}">
                <a16:creationId xmlns:a16="http://schemas.microsoft.com/office/drawing/2014/main" id="{6D732F06-9639-8320-1234-3630B0B03207}"/>
              </a:ext>
            </a:extLst>
          </p:cNvPr>
          <p:cNvSpPr/>
          <p:nvPr/>
        </p:nvSpPr>
        <p:spPr>
          <a:xfrm>
            <a:off x="11183112" y="6419088"/>
            <a:ext cx="411480" cy="228600"/>
          </a:xfrm>
          <a:prstGeom prst="rect">
            <a:avLst/>
          </a:prstGeom>
          <a:noFill/>
          <a:ln/>
        </p:spPr>
        <p:txBody>
          <a:bodyPr wrap="square" lIns="0" tIns="0" rIns="0" bIns="0" rtlCol="0" anchor="ctr"/>
          <a:lstStyle/>
          <a:p>
            <a:pPr marL="0" indent="0" algn="r">
              <a:buNone/>
            </a:pPr>
            <a:r>
              <a:rPr lang="en-US" sz="1050">
                <a:solidFill>
                  <a:srgbClr val="53535D"/>
                </a:solidFill>
                <a:latin typeface="Segoe UI" pitchFamily="34" charset="0"/>
                <a:ea typeface="Segoe UI" pitchFamily="34" charset="-122"/>
                <a:cs typeface="Segoe UI" pitchFamily="34" charset="-120"/>
              </a:rPr>
              <a:t>04</a:t>
            </a:r>
            <a:endParaRPr lang="en-US" sz="1050" dirty="0"/>
          </a:p>
        </p:txBody>
      </p:sp>
    </p:spTree>
    <p:extLst>
      <p:ext uri="{BB962C8B-B14F-4D97-AF65-F5344CB8AC3E}">
        <p14:creationId xmlns:p14="http://schemas.microsoft.com/office/powerpoint/2010/main" val="4391654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EBCBE6-2CB9-A136-72A8-0F5BE812A720}"/>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01  |  Build your first agent</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AC4CA740-2CEF-A44A-45B1-1A19A2068ECF}"/>
              </a:ext>
            </a:extLst>
          </p:cNvPr>
          <p:cNvSpPr txBox="1"/>
          <p:nvPr/>
        </p:nvSpPr>
        <p:spPr>
          <a:xfrm>
            <a:off x="609600" y="1193799"/>
            <a:ext cx="10985500" cy="584200"/>
          </a:xfrm>
          <a:prstGeom prst="rect">
            <a:avLst/>
          </a:prstGeom>
          <a:noFill/>
        </p:spPr>
        <p:txBody>
          <a:bodyPr vert="horz" wrap="square" lIns="0" tIns="0" rIns="0" bIns="0" rtlCol="0">
            <a:noAutofit/>
          </a:bodyPr>
          <a:lstStyle/>
          <a:p>
            <a:pPr algn="l">
              <a:spcAft>
                <a:spcPts val="300"/>
              </a:spcAft>
            </a:pPr>
            <a:r>
              <a:rPr lang="en-US" sz="1700">
                <a:solidFill>
                  <a:srgbClr val="545460"/>
                </a:solidFill>
                <a:latin typeface="Segoe UI" panose="020B0502040204020203" pitchFamily="34" charset="0"/>
              </a:rPr>
              <a:t>Model client, agent, per-user history, and OpenTelemetry in one sample.</a:t>
            </a:r>
            <a:endParaRPr lang="en-US" sz="1700" dirty="0" err="1">
              <a:solidFill>
                <a:srgbClr val="545460"/>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E0EC45EA-EFF5-BFB6-7274-3776C73E5566}"/>
              </a:ext>
            </a:extLst>
          </p:cNvPr>
          <p:cNvSpPr/>
          <p:nvPr/>
        </p:nvSpPr>
        <p:spPr bwMode="auto">
          <a:xfrm>
            <a:off x="585216" y="1943100"/>
            <a:ext cx="2395728" cy="14605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6E22E00E-0F3B-5106-C5EB-A86934F53E1B}"/>
              </a:ext>
            </a:extLst>
          </p:cNvPr>
          <p:cNvSpPr txBox="1"/>
          <p:nvPr/>
        </p:nvSpPr>
        <p:spPr>
          <a:xfrm>
            <a:off x="768096" y="2082799"/>
            <a:ext cx="2029968" cy="3810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Model client</a:t>
            </a:r>
            <a:endParaRPr lang="en-US" b="1" dirty="0" err="1">
              <a:solidFill>
                <a:srgbClr val="0078D4"/>
              </a:solidFill>
              <a:latin typeface="Segoe UI" panose="020B0502040204020203" pitchFamily="34" charset="0"/>
            </a:endParaRPr>
          </a:p>
        </p:txBody>
      </p:sp>
      <p:sp>
        <p:nvSpPr>
          <p:cNvPr id="6" name="TextBox 5">
            <a:extLst>
              <a:ext uri="{FF2B5EF4-FFF2-40B4-BE49-F238E27FC236}">
                <a16:creationId xmlns:a16="http://schemas.microsoft.com/office/drawing/2014/main" id="{DF237DDE-21FA-F9AD-560D-E1B700C04BAF}"/>
              </a:ext>
            </a:extLst>
          </p:cNvPr>
          <p:cNvSpPr txBox="1"/>
          <p:nvPr/>
        </p:nvSpPr>
        <p:spPr>
          <a:xfrm>
            <a:off x="768096" y="2501899"/>
            <a:ext cx="2029968" cy="787400"/>
          </a:xfrm>
          <a:prstGeom prst="rect">
            <a:avLst/>
          </a:prstGeom>
          <a:noFill/>
        </p:spPr>
        <p:txBody>
          <a:bodyPr vert="horz" wrap="square" lIns="0" tIns="0" rIns="0" bIns="0" rtlCol="0">
            <a:noAutofit/>
          </a:bodyPr>
          <a:lstStyle/>
          <a:p>
            <a:pPr algn="l">
              <a:spcAft>
                <a:spcPts val="300"/>
              </a:spcAft>
            </a:pPr>
            <a:r>
              <a:rPr lang="en-US" sz="1400">
                <a:solidFill>
                  <a:srgbClr val="202020"/>
                </a:solidFill>
                <a:latin typeface="Segoe UI" panose="020B0502040204020203" pitchFamily="34" charset="0"/>
              </a:rPr>
              <a:t>OpenAI-compatible:</a:t>
            </a:r>
            <a:endParaRPr lang="en-US" sz="1500" dirty="0" err="1">
              <a:solidFill>
                <a:srgbClr val="202020"/>
              </a:solidFill>
              <a:latin typeface="Segoe UI" panose="020B0502040204020203" pitchFamily="34" charset="0"/>
            </a:endParaRPr>
          </a:p>
          <a:p>
            <a:pPr algn="l">
              <a:spcAft>
                <a:spcPts val="300"/>
              </a:spcAft>
            </a:pPr>
            <a:r>
              <a:rPr lang="en-US" sz="1400">
                <a:solidFill>
                  <a:srgbClr val="202020"/>
                </a:solidFill>
                <a:latin typeface="Segoe UI" panose="020B0502040204020203" pitchFamily="34" charset="0"/>
              </a:rPr>
              <a:t>OSS or frontier.</a:t>
            </a:r>
            <a:endParaRPr lang="en-US" sz="1500" dirty="0" err="1">
              <a:solidFill>
                <a:srgbClr val="20202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9CECDBAD-C940-E2B6-759E-8757B27BC9A2}"/>
              </a:ext>
            </a:extLst>
          </p:cNvPr>
          <p:cNvSpPr/>
          <p:nvPr/>
        </p:nvSpPr>
        <p:spPr bwMode="auto">
          <a:xfrm>
            <a:off x="3462528" y="1943100"/>
            <a:ext cx="2395728" cy="14605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9ABCBF17-92B2-3A87-4201-6F33AAA4D63C}"/>
              </a:ext>
            </a:extLst>
          </p:cNvPr>
          <p:cNvSpPr txBox="1"/>
          <p:nvPr/>
        </p:nvSpPr>
        <p:spPr>
          <a:xfrm>
            <a:off x="3645408" y="2082799"/>
            <a:ext cx="2029968"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Agent</a:t>
            </a:r>
            <a:endParaRPr lang="en-US" b="1" dirty="0" err="1">
              <a:solidFill>
                <a:srgbClr val="8055C8"/>
              </a:solidFill>
              <a:latin typeface="Segoe UI" panose="020B0502040204020203" pitchFamily="34" charset="0"/>
            </a:endParaRPr>
          </a:p>
        </p:txBody>
      </p:sp>
      <p:sp>
        <p:nvSpPr>
          <p:cNvPr id="9" name="TextBox 8">
            <a:extLst>
              <a:ext uri="{FF2B5EF4-FFF2-40B4-BE49-F238E27FC236}">
                <a16:creationId xmlns:a16="http://schemas.microsoft.com/office/drawing/2014/main" id="{C429A9E7-9DF5-39C5-B4CA-1F8631A69B4B}"/>
              </a:ext>
            </a:extLst>
          </p:cNvPr>
          <p:cNvSpPr txBox="1"/>
          <p:nvPr/>
        </p:nvSpPr>
        <p:spPr>
          <a:xfrm>
            <a:off x="3645408" y="2501899"/>
            <a:ext cx="2029968" cy="787400"/>
          </a:xfrm>
          <a:prstGeom prst="rect">
            <a:avLst/>
          </a:prstGeom>
          <a:noFill/>
        </p:spPr>
        <p:txBody>
          <a:bodyPr vert="horz" wrap="square" lIns="0" tIns="0" rIns="0" bIns="0" rtlCol="0">
            <a:noAutofit/>
          </a:bodyPr>
          <a:lstStyle/>
          <a:p>
            <a:pPr algn="l">
              <a:spcAft>
                <a:spcPts val="300"/>
              </a:spcAft>
            </a:pPr>
            <a:r>
              <a:rPr lang="en-US" sz="1400">
                <a:solidFill>
                  <a:srgbClr val="202020"/>
                </a:solidFill>
                <a:latin typeface="Segoe UI" panose="020B0502040204020203" pitchFamily="34" charset="0"/>
              </a:rPr>
              <a:t>Instructions once.</a:t>
            </a:r>
          </a:p>
          <a:p>
            <a:pPr algn="l">
              <a:spcAft>
                <a:spcPts val="300"/>
              </a:spcAft>
            </a:pPr>
            <a:r>
              <a:rPr lang="en-US" sz="1400">
                <a:solidFill>
                  <a:srgbClr val="202020"/>
                </a:solidFill>
                <a:latin typeface="Segoe UI" panose="020B0502040204020203" pitchFamily="34" charset="0"/>
              </a:rPr>
              <a:t>Agent.run() streams.</a:t>
            </a:r>
          </a:p>
        </p:txBody>
      </p:sp>
      <p:sp>
        <p:nvSpPr>
          <p:cNvPr id="10" name="Rectangle: Rounded Corners 9">
            <a:extLst>
              <a:ext uri="{FF2B5EF4-FFF2-40B4-BE49-F238E27FC236}">
                <a16:creationId xmlns:a16="http://schemas.microsoft.com/office/drawing/2014/main" id="{68513FA2-A7AA-9C32-FDFC-C34DDCC09347}"/>
              </a:ext>
            </a:extLst>
          </p:cNvPr>
          <p:cNvSpPr/>
          <p:nvPr/>
        </p:nvSpPr>
        <p:spPr bwMode="auto">
          <a:xfrm>
            <a:off x="6339840" y="1943100"/>
            <a:ext cx="2395728" cy="14605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9EADAF2E-792C-5213-101E-464E9F483A6F}"/>
              </a:ext>
            </a:extLst>
          </p:cNvPr>
          <p:cNvSpPr txBox="1"/>
          <p:nvPr/>
        </p:nvSpPr>
        <p:spPr>
          <a:xfrm>
            <a:off x="6522720" y="2082799"/>
            <a:ext cx="2029968" cy="381000"/>
          </a:xfrm>
          <a:prstGeom prst="rect">
            <a:avLst/>
          </a:prstGeom>
          <a:noFill/>
        </p:spPr>
        <p:txBody>
          <a:bodyPr vert="horz" wrap="square" lIns="0" tIns="0" rIns="0" bIns="0" rtlCol="0">
            <a:noAutofit/>
          </a:bodyPr>
          <a:lstStyle/>
          <a:p>
            <a:pPr algn="l">
              <a:spcAft>
                <a:spcPts val="300"/>
              </a:spcAft>
            </a:pPr>
            <a:r>
              <a:rPr lang="en-US" b="1">
                <a:solidFill>
                  <a:srgbClr val="008F99"/>
                </a:solidFill>
                <a:latin typeface="Segoe UI" panose="020B0502040204020203" pitchFamily="34" charset="0"/>
              </a:rPr>
              <a:t>Per-user history</a:t>
            </a:r>
            <a:endParaRPr lang="en-US" b="1" dirty="0" err="1">
              <a:solidFill>
                <a:srgbClr val="0078D4"/>
              </a:solidFill>
              <a:latin typeface="Segoe UI" panose="020B0502040204020203" pitchFamily="34" charset="0"/>
            </a:endParaRPr>
          </a:p>
        </p:txBody>
      </p:sp>
      <p:sp>
        <p:nvSpPr>
          <p:cNvPr id="12" name="TextBox 11">
            <a:extLst>
              <a:ext uri="{FF2B5EF4-FFF2-40B4-BE49-F238E27FC236}">
                <a16:creationId xmlns:a16="http://schemas.microsoft.com/office/drawing/2014/main" id="{54BBB544-264A-3190-22CC-C8793B96788D}"/>
              </a:ext>
            </a:extLst>
          </p:cNvPr>
          <p:cNvSpPr txBox="1"/>
          <p:nvPr/>
        </p:nvSpPr>
        <p:spPr>
          <a:xfrm>
            <a:off x="6522720" y="2501899"/>
            <a:ext cx="2029968" cy="787400"/>
          </a:xfrm>
          <a:prstGeom prst="rect">
            <a:avLst/>
          </a:prstGeom>
          <a:noFill/>
        </p:spPr>
        <p:txBody>
          <a:bodyPr vert="horz" wrap="square" lIns="0" tIns="0" rIns="0" bIns="0" rtlCol="0">
            <a:noAutofit/>
          </a:bodyPr>
          <a:lstStyle/>
          <a:p>
            <a:pPr algn="l">
              <a:spcAft>
                <a:spcPts val="300"/>
              </a:spcAft>
            </a:pPr>
            <a:r>
              <a:rPr lang="en-US" sz="1400">
                <a:solidFill>
                  <a:srgbClr val="202020"/>
                </a:solidFill>
                <a:latin typeface="Segoe UI" panose="020B0502040204020203" pitchFamily="34" charset="0"/>
              </a:rPr>
              <a:t>FileHistoryProvider</a:t>
            </a:r>
            <a:endParaRPr lang="en-US" sz="1500" dirty="0" err="1">
              <a:solidFill>
                <a:srgbClr val="202020"/>
              </a:solidFill>
              <a:latin typeface="Segoe UI" panose="020B0502040204020203" pitchFamily="34" charset="0"/>
            </a:endParaRPr>
          </a:p>
          <a:p>
            <a:pPr algn="l">
              <a:spcAft>
                <a:spcPts val="300"/>
              </a:spcAft>
            </a:pPr>
            <a:r>
              <a:rPr lang="en-US" sz="1400">
                <a:solidFill>
                  <a:srgbClr val="202020"/>
                </a:solidFill>
                <a:latin typeface="Segoe UI" panose="020B0502040204020203" pitchFamily="34" charset="0"/>
              </a:rPr>
              <a:t>saves every turn.</a:t>
            </a:r>
            <a:endParaRPr lang="en-US" sz="1500" dirty="0" err="1">
              <a:solidFill>
                <a:srgbClr val="202020"/>
              </a:solidFill>
              <a:latin typeface="Segoe UI" panose="020B0502040204020203" pitchFamily="34" charset="0"/>
            </a:endParaRPr>
          </a:p>
        </p:txBody>
      </p:sp>
      <p:sp>
        <p:nvSpPr>
          <p:cNvPr id="26" name="Rectangle: Rounded Corners 9">
            <a:extLst>
              <a:ext uri="{FF2B5EF4-FFF2-40B4-BE49-F238E27FC236}">
                <a16:creationId xmlns:a16="http://schemas.microsoft.com/office/drawing/2014/main" id="{68513FA2-A7AA-9C32-FDFC-C34DDCC09347}"/>
              </a:ext>
            </a:extLst>
          </p:cNvPr>
          <p:cNvSpPr/>
          <p:nvPr/>
        </p:nvSpPr>
        <p:spPr bwMode="auto">
          <a:xfrm>
            <a:off x="9217152" y="1943100"/>
            <a:ext cx="2395728" cy="14605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TextBox 11">
            <a:extLst>
              <a:ext uri="{FF2B5EF4-FFF2-40B4-BE49-F238E27FC236}">
                <a16:creationId xmlns:a16="http://schemas.microsoft.com/office/drawing/2014/main" id="{54BBB544-264A-3190-22CC-C8793B96788D}"/>
              </a:ext>
            </a:extLst>
          </p:cNvPr>
          <p:cNvSpPr txBox="1"/>
          <p:nvPr/>
        </p:nvSpPr>
        <p:spPr>
          <a:xfrm>
            <a:off x="9400032" y="2501899"/>
            <a:ext cx="2029968" cy="787400"/>
          </a:xfrm>
          <a:prstGeom prst="rect">
            <a:avLst/>
          </a:prstGeom>
          <a:noFill/>
        </p:spPr>
        <p:txBody>
          <a:bodyPr vert="horz" wrap="square" lIns="0" tIns="0" rIns="0" bIns="0" rtlCol="0">
            <a:noAutofit/>
          </a:bodyPr>
          <a:lstStyle/>
          <a:p>
            <a:pPr algn="l">
              <a:spcAft>
                <a:spcPts val="300"/>
              </a:spcAft>
            </a:pPr>
            <a:r>
              <a:rPr lang="en-US" sz="1400">
                <a:solidFill>
                  <a:srgbClr val="202020"/>
                </a:solidFill>
                <a:latin typeface="Segoe UI" panose="020B0502040204020203" pitchFamily="34" charset="0"/>
              </a:rPr>
              <a:t>Spans for every turn.</a:t>
            </a:r>
            <a:endParaRPr lang="en-US" sz="1500" dirty="0" err="1">
              <a:solidFill>
                <a:srgbClr val="202020"/>
              </a:solidFill>
              <a:latin typeface="Segoe UI" panose="020B0502040204020203" pitchFamily="34" charset="0"/>
            </a:endParaRPr>
          </a:p>
          <a:p>
            <a:pPr algn="l">
              <a:spcAft>
                <a:spcPts val="300"/>
              </a:spcAft>
            </a:pPr>
            <a:r>
              <a:rPr lang="en-US" sz="1400">
                <a:solidFill>
                  <a:srgbClr val="202020"/>
                </a:solidFill>
                <a:latin typeface="Segoe UI" panose="020B0502040204020203" pitchFamily="34" charset="0"/>
              </a:rPr>
              <a:t>Correlated logs.</a:t>
            </a:r>
            <a:endParaRPr lang="en-US" sz="1500" dirty="0" err="1">
              <a:solidFill>
                <a:srgbClr val="202020"/>
              </a:solidFill>
              <a:latin typeface="Segoe UI" panose="020B0502040204020203" pitchFamily="34" charset="0"/>
            </a:endParaRPr>
          </a:p>
        </p:txBody>
      </p:sp>
      <p:sp>
        <p:nvSpPr>
          <p:cNvPr id="27" name="TextBox 10">
            <a:extLst>
              <a:ext uri="{FF2B5EF4-FFF2-40B4-BE49-F238E27FC236}">
                <a16:creationId xmlns:a16="http://schemas.microsoft.com/office/drawing/2014/main" id="{9EADAF2E-792C-5213-101E-464E9F483A6F}"/>
              </a:ext>
            </a:extLst>
          </p:cNvPr>
          <p:cNvSpPr txBox="1"/>
          <p:nvPr/>
        </p:nvSpPr>
        <p:spPr>
          <a:xfrm>
            <a:off x="9400032" y="2082799"/>
            <a:ext cx="2029968" cy="381000"/>
          </a:xfrm>
          <a:prstGeom prst="rect">
            <a:avLst/>
          </a:prstGeom>
          <a:noFill/>
        </p:spPr>
        <p:txBody>
          <a:bodyPr vert="horz" wrap="square" lIns="0" tIns="0" rIns="0" bIns="0" rtlCol="0">
            <a:noAutofit/>
          </a:bodyPr>
          <a:lstStyle/>
          <a:p>
            <a:pPr algn="l">
              <a:spcAft>
                <a:spcPts val="300"/>
              </a:spcAft>
            </a:pPr>
            <a:r>
              <a:rPr lang="en-US" b="1">
                <a:solidFill>
                  <a:srgbClr val="167447"/>
                </a:solidFill>
                <a:latin typeface="Segoe UI" panose="020B0502040204020203" pitchFamily="34" charset="0"/>
              </a:rPr>
              <a:t>OpenTelemetry</a:t>
            </a:r>
            <a:endParaRPr lang="en-US" b="1" dirty="0" err="1">
              <a:solidFill>
                <a:srgbClr val="0078D4"/>
              </a:solidFill>
              <a:latin typeface="Segoe UI" panose="020B0502040204020203" pitchFamily="34" charset="0"/>
            </a:endParaRPr>
          </a:p>
        </p:txBody>
      </p:sp>
      <p:cxnSp>
        <p:nvCxnSpPr>
          <p:cNvPr id="13" name="Straight Connector 12">
            <a:extLst>
              <a:ext uri="{FF2B5EF4-FFF2-40B4-BE49-F238E27FC236}">
                <a16:creationId xmlns:a16="http://schemas.microsoft.com/office/drawing/2014/main" id="{E32FA760-DE35-A577-BA92-E9F76B123155}"/>
              </a:ext>
            </a:extLst>
          </p:cNvPr>
          <p:cNvCxnSpPr/>
          <p:nvPr/>
        </p:nvCxnSpPr>
        <p:spPr>
          <a:xfrm>
            <a:off x="3044952" y="2667000"/>
            <a:ext cx="353568" cy="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41C73E-A37D-D073-3091-31A1E201F0B7}"/>
              </a:ext>
            </a:extLst>
          </p:cNvPr>
          <p:cNvCxnSpPr/>
          <p:nvPr/>
        </p:nvCxnSpPr>
        <p:spPr>
          <a:xfrm>
            <a:off x="5922264" y="2667000"/>
            <a:ext cx="353568" cy="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29" name="Straight Connector 13">
            <a:extLst>
              <a:ext uri="{FF2B5EF4-FFF2-40B4-BE49-F238E27FC236}">
                <a16:creationId xmlns:a16="http://schemas.microsoft.com/office/drawing/2014/main" id="{0341C73E-A37D-D073-3091-31A1E201F0B7}"/>
              </a:ext>
            </a:extLst>
          </p:cNvPr>
          <p:cNvCxnSpPr/>
          <p:nvPr/>
        </p:nvCxnSpPr>
        <p:spPr>
          <a:xfrm>
            <a:off x="8799576" y="2667000"/>
            <a:ext cx="353568" cy="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08464E03-07EB-CEF5-5E02-84CDECCB3B0E}"/>
              </a:ext>
            </a:extLst>
          </p:cNvPr>
          <p:cNvSpPr/>
          <p:nvPr/>
        </p:nvSpPr>
        <p:spPr bwMode="auto">
          <a:xfrm>
            <a:off x="584200" y="3619500"/>
            <a:ext cx="11023600" cy="596900"/>
          </a:xfrm>
          <a:prstGeom prst="roundRect">
            <a:avLst>
              <a:gd name="adj" fmla="val 12000"/>
            </a:avLst>
          </a:prstGeom>
          <a:solidFill>
            <a:srgbClr val="EEE7F8"/>
          </a:solidFill>
          <a:ln w="10160">
            <a:solidFill>
              <a:srgbClr val="EEE7F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97F94766-9B85-0F46-A657-05B36331A704}"/>
              </a:ext>
            </a:extLst>
          </p:cNvPr>
          <p:cNvSpPr txBox="1"/>
          <p:nvPr/>
        </p:nvSpPr>
        <p:spPr>
          <a:xfrm>
            <a:off x="787400" y="3771899"/>
            <a:ext cx="10591800" cy="342900"/>
          </a:xfrm>
          <a:prstGeom prst="rect">
            <a:avLst/>
          </a:prstGeom>
          <a:noFill/>
        </p:spPr>
        <p:txBody>
          <a:bodyPr vert="horz" wrap="square" lIns="0" tIns="0" rIns="0" bIns="0" rtlCol="0">
            <a:noAutofit/>
          </a:bodyPr>
          <a:lstStyle/>
          <a:p>
            <a:pPr algn="l">
              <a:spcAft>
                <a:spcPts val="300"/>
              </a:spcAft>
            </a:pPr>
            <a:r>
              <a:rPr lang="en-US" sz="1700" b="1">
                <a:solidFill>
                  <a:srgbClr val="8055C8"/>
                </a:solidFill>
                <a:latin typeface="Segoe UI" panose="020B0502040204020203" pitchFamily="34" charset="0"/>
              </a:rPr>
              <a:t>Alice resumes after a restart.  Bob, same conversation name: no Alice history.</a:t>
            </a:r>
            <a:endParaRPr lang="en-US" sz="1700" b="1" dirty="0" err="1">
              <a:solidFill>
                <a:srgbClr val="8055C8"/>
              </a:solidFill>
              <a:latin typeface="Segoe UI" panose="020B0502040204020203" pitchFamily="34" charset="0"/>
            </a:endParaRPr>
          </a:p>
        </p:txBody>
      </p:sp>
      <p:sp>
        <p:nvSpPr>
          <p:cNvPr id="17" name="TextBox 16">
            <a:extLst>
              <a:ext uri="{FF2B5EF4-FFF2-40B4-BE49-F238E27FC236}">
                <a16:creationId xmlns:a16="http://schemas.microsoft.com/office/drawing/2014/main" id="{7471BC3E-58E2-887E-67E5-1C40DEF3779B}"/>
              </a:ext>
            </a:extLst>
          </p:cNvPr>
          <p:cNvSpPr txBox="1"/>
          <p:nvPr/>
        </p:nvSpPr>
        <p:spPr>
          <a:xfrm>
            <a:off x="609600" y="4381500"/>
            <a:ext cx="10922000" cy="317500"/>
          </a:xfrm>
          <a:prstGeom prst="rect">
            <a:avLst/>
          </a:prstGeom>
          <a:noFill/>
        </p:spPr>
        <p:txBody>
          <a:bodyPr vert="horz" wrap="square" lIns="0" tIns="0" rIns="0" bIns="0" rtlCol="0">
            <a:noAutofit/>
          </a:bodyPr>
          <a:lstStyle/>
          <a:p>
            <a:pPr algn="l">
              <a:spcAft>
                <a:spcPts val="300"/>
              </a:spcAft>
            </a:pPr>
            <a:r>
              <a:rPr lang="en-US" sz="1400" b="1">
                <a:solidFill>
                  <a:srgbClr val="545460"/>
                </a:solidFill>
                <a:latin typeface="Segoe UI" panose="020B0502040204020203" pitchFamily="34" charset="0"/>
              </a:rPr>
              <a:t>FIRST-PARTY HISTORY OPTIONS</a:t>
            </a:r>
            <a:endParaRPr lang="en-US" sz="1400" b="1" dirty="0" err="1">
              <a:solidFill>
                <a:srgbClr val="545460"/>
              </a:solidFill>
              <a:latin typeface="Segoe UI" panose="020B0502040204020203" pitchFamily="34" charset="0"/>
            </a:endParaRPr>
          </a:p>
        </p:txBody>
      </p:sp>
      <p:sp>
        <p:nvSpPr>
          <p:cNvPr id="18" name="TextBox 17">
            <a:extLst>
              <a:ext uri="{FF2B5EF4-FFF2-40B4-BE49-F238E27FC236}">
                <a16:creationId xmlns:a16="http://schemas.microsoft.com/office/drawing/2014/main" id="{423D7A0B-5658-59CB-71CB-3482E034A2AD}"/>
              </a:ext>
            </a:extLst>
          </p:cNvPr>
          <p:cNvSpPr txBox="1"/>
          <p:nvPr/>
        </p:nvSpPr>
        <p:spPr>
          <a:xfrm>
            <a:off x="609600" y="4762499"/>
            <a:ext cx="10922000" cy="393700"/>
          </a:xfrm>
          <a:prstGeom prst="rect">
            <a:avLst/>
          </a:prstGeom>
          <a:noFill/>
        </p:spPr>
        <p:txBody>
          <a:bodyPr vert="horz" wrap="square" lIns="0" tIns="0" rIns="0" bIns="0" rtlCol="0">
            <a:noAutofit/>
          </a:bodyPr>
          <a:lstStyle/>
          <a:p>
            <a:pPr algn="l">
              <a:spcAft>
                <a:spcPts val="300"/>
              </a:spcAft>
            </a:pPr>
            <a:r>
              <a:rPr lang="en-US" sz="2100" b="1" dirty="0">
                <a:solidFill>
                  <a:srgbClr val="0078D4"/>
                </a:solidFill>
                <a:latin typeface="Segoe UI" panose="020B0502040204020203" pitchFamily="34" charset="0"/>
              </a:rPr>
              <a:t>In-memory  |  Local file  |  Redis  |  Azure Cosmos DB</a:t>
            </a:r>
          </a:p>
        </p:txBody>
      </p:sp>
      <p:sp>
        <p:nvSpPr>
          <p:cNvPr id="19" name="TextBox 18">
            <a:extLst>
              <a:ext uri="{FF2B5EF4-FFF2-40B4-BE49-F238E27FC236}">
                <a16:creationId xmlns:a16="http://schemas.microsoft.com/office/drawing/2014/main" id="{9303B87A-6DD0-2B24-2957-278FB65D62AF}"/>
              </a:ext>
            </a:extLst>
          </p:cNvPr>
          <p:cNvSpPr txBox="1"/>
          <p:nvPr/>
        </p:nvSpPr>
        <p:spPr>
          <a:xfrm>
            <a:off x="609600" y="5181600"/>
            <a:ext cx="10922000" cy="266700"/>
          </a:xfrm>
          <a:prstGeom prst="rect">
            <a:avLst/>
          </a:prstGeom>
          <a:noFill/>
        </p:spPr>
        <p:txBody>
          <a:bodyPr vert="horz" wrap="square" lIns="0" tIns="0" rIns="0" bIns="0" rtlCol="0">
            <a:noAutofit/>
          </a:bodyPr>
          <a:lstStyle/>
          <a:p>
            <a:pPr algn="l">
              <a:spcAft>
                <a:spcPts val="300"/>
              </a:spcAft>
            </a:pPr>
            <a:r>
              <a:rPr lang="en-US" sz="1200">
                <a:solidFill>
                  <a:srgbClr val="545460"/>
                </a:solidFill>
                <a:latin typeface="Segoe UI" panose="020B0502040204020203" pitchFamily="34" charset="0"/>
              </a:rPr>
              <a:t>Redis / Cosmos need services + credentials. Full session snapshots: FileSessionStore (different API).</a:t>
            </a:r>
            <a:endParaRPr lang="en-US" sz="1200" dirty="0" err="1">
              <a:solidFill>
                <a:srgbClr val="54546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BA8374E3-F435-EFCD-5FE0-B1539ED85B3A}"/>
              </a:ext>
            </a:extLst>
          </p:cNvPr>
          <p:cNvSpPr/>
          <p:nvPr/>
        </p:nvSpPr>
        <p:spPr bwMode="auto">
          <a:xfrm>
            <a:off x="584200" y="5524500"/>
            <a:ext cx="11023600" cy="546100"/>
          </a:xfrm>
          <a:prstGeom prst="roundRect">
            <a:avLst>
              <a:gd name="adj" fmla="val 12000"/>
            </a:avLst>
          </a:prstGeom>
          <a:solidFill>
            <a:srgbClr val="E4F2FA"/>
          </a:solidFill>
          <a:ln w="10160">
            <a:solidFill>
              <a:srgbClr val="E4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BEF13AB5-2406-D184-023F-F0A348131085}"/>
              </a:ext>
            </a:extLst>
          </p:cNvPr>
          <p:cNvSpPr txBox="1"/>
          <p:nvPr/>
        </p:nvSpPr>
        <p:spPr>
          <a:xfrm>
            <a:off x="762000" y="5651500"/>
            <a:ext cx="10668000" cy="317500"/>
          </a:xfrm>
          <a:prstGeom prst="rect">
            <a:avLst/>
          </a:prstGeom>
          <a:noFill/>
        </p:spPr>
        <p:txBody>
          <a:bodyPr vert="horz" wrap="square" lIns="0" tIns="0" rIns="0" bIns="0" rtlCol="0">
            <a:noAutofit/>
          </a:bodyPr>
          <a:lstStyle/>
          <a:p>
            <a:pPr algn="l">
              <a:spcAft>
                <a:spcPts val="300"/>
              </a:spcAft>
            </a:pPr>
            <a:r>
              <a:rPr lang="en-US" sz="1600" b="1">
                <a:solidFill>
                  <a:srgbClr val="0078D4"/>
                </a:solidFill>
                <a:latin typeface="Segoe UI" panose="020B0502040204020203" pitchFamily="34" charset="0"/>
              </a:rPr>
              <a:t>Application opportunity: return to your investigation without repeating earlier context.</a:t>
            </a:r>
            <a:endParaRPr lang="en-US" sz="1600" b="1" dirty="0" err="1">
              <a:solidFill>
                <a:srgbClr val="0078D4"/>
              </a:solidFill>
              <a:latin typeface="Segoe UI" panose="020B0502040204020203" pitchFamily="34" charset="0"/>
            </a:endParaRPr>
          </a:p>
        </p:txBody>
      </p:sp>
      <p:sp>
        <p:nvSpPr>
          <p:cNvPr id="23" name="TextBox 22">
            <a:extLst>
              <a:ext uri="{FF2B5EF4-FFF2-40B4-BE49-F238E27FC236}">
                <a16:creationId xmlns:a16="http://schemas.microsoft.com/office/drawing/2014/main" id="{0636BE5C-98EA-58E9-A00A-FFA3AD3003EB}"/>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24" name="TextBox 23">
            <a:extLst>
              <a:ext uri="{FF2B5EF4-FFF2-40B4-BE49-F238E27FC236}">
                <a16:creationId xmlns:a16="http://schemas.microsoft.com/office/drawing/2014/main" id="{9CD20BE3-0342-8497-A91C-46D58E703D50}"/>
              </a:ext>
            </a:extLst>
          </p:cNvPr>
          <p:cNvSpPr txBox="1"/>
          <p:nvPr/>
        </p:nvSpPr>
        <p:spPr>
          <a:xfrm>
            <a:off x="6007100" y="6489700"/>
            <a:ext cx="5003800" cy="266700"/>
          </a:xfrm>
          <a:prstGeom prst="rect">
            <a:avLst/>
          </a:prstGeom>
          <a:noFill/>
        </p:spPr>
        <p:txBody>
          <a:bodyPr vert="horz" wrap="square" lIns="0" tIns="0" rIns="0" bIns="0" rtlCol="0">
            <a:noAutofit/>
          </a:bodyPr>
          <a:lstStyle/>
          <a:p>
            <a:pPr algn="l">
              <a:spcAft>
                <a:spcPts val="300"/>
              </a:spcAft>
            </a:pPr>
            <a:r>
              <a:rPr lang="en-US" sz="1000">
                <a:solidFill>
                  <a:srgbClr val="0078D4"/>
                </a:solidFill>
                <a:latin typeface="Segoe UI" panose="020B0502040204020203" pitchFamily="34" charset="0"/>
              </a:rPr>
              <a:t>01_quick_start_demo.py</a:t>
            </a:r>
            <a:endParaRPr lang="en-US" sz="1000" dirty="0" err="1">
              <a:solidFill>
                <a:srgbClr val="0078D4"/>
              </a:solidFill>
              <a:latin typeface="Segoe UI" panose="020B0502040204020203" pitchFamily="34" charset="0"/>
            </a:endParaRPr>
          </a:p>
        </p:txBody>
      </p:sp>
      <p:sp>
        <p:nvSpPr>
          <p:cNvPr id="25" name="SlideNumber">
            <a:extLst>
              <a:ext uri="{FF2B5EF4-FFF2-40B4-BE49-F238E27FC236}">
                <a16:creationId xmlns:a16="http://schemas.microsoft.com/office/drawing/2014/main" id="{5B20AA13-A838-2F5D-5885-CD4366F02B40}"/>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05</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19924423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16574-7C27-D40D-AFA0-2A6928A675D4}"/>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02  |  Investigate recovery readiness in parallel</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25C79553-0855-38FE-ACB6-9A3FED0F9B12}"/>
              </a:ext>
            </a:extLst>
          </p:cNvPr>
          <p:cNvSpPr txBox="1"/>
          <p:nvPr/>
        </p:nvSpPr>
        <p:spPr>
          <a:xfrm>
            <a:off x="609600" y="1193799"/>
            <a:ext cx="10985500" cy="584200"/>
          </a:xfrm>
          <a:prstGeom prst="rect">
            <a:avLst/>
          </a:prstGeom>
          <a:noFill/>
        </p:spPr>
        <p:txBody>
          <a:bodyPr vert="horz" wrap="square" lIns="0" tIns="0" rIns="0" bIns="0" rtlCol="0">
            <a:noAutofit/>
          </a:bodyPr>
          <a:lstStyle/>
          <a:p>
            <a:pPr algn="l">
              <a:spcAft>
                <a:spcPts val="300"/>
              </a:spcAft>
            </a:pPr>
            <a:r>
              <a:rPr lang="en-US" sz="1700">
                <a:solidFill>
                  <a:srgbClr val="545460"/>
                </a:solidFill>
                <a:latin typeface="Segoe UI" panose="020B0502040204020203" pitchFamily="34" charset="0"/>
              </a:rPr>
              <a:t>One incident. Three evidence lanes. A source-backed decision.</a:t>
            </a:r>
          </a:p>
          <a:p>
            <a:pPr algn="l">
              <a:spcAft>
                <a:spcPts val="300"/>
              </a:spcAft>
            </a:pPr>
            <a:r>
              <a:rPr lang="en-US" sz="1700">
                <a:solidFill>
                  <a:srgbClr val="545460"/>
                </a:solidFill>
                <a:latin typeface="Segoe UI" panose="020B0502040204020203" pitchFamily="34" charset="0"/>
              </a:rPr>
              <a:t>DEMO: fictional evidence, read-only tools, no live restore.</a:t>
            </a:r>
            <a:endParaRPr lang="en-US" sz="1700" dirty="0" err="1">
              <a:solidFill>
                <a:srgbClr val="545460"/>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F4F8161C-6ED6-0A0E-CE01-2FA915ED406A}"/>
              </a:ext>
            </a:extLst>
          </p:cNvPr>
          <p:cNvSpPr/>
          <p:nvPr/>
        </p:nvSpPr>
        <p:spPr bwMode="auto">
          <a:xfrm>
            <a:off x="4013200" y="1892300"/>
            <a:ext cx="4165600" cy="482600"/>
          </a:xfrm>
          <a:prstGeom prst="roundRect">
            <a:avLst>
              <a:gd name="adj" fmla="val 12000"/>
            </a:avLst>
          </a:prstGeom>
          <a:solidFill>
            <a:srgbClr val="E5F2FA"/>
          </a:solidFill>
          <a:ln w="10160">
            <a:solidFill>
              <a:srgbClr val="E5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5B6FF291-EE6D-EABE-0C68-35E4A86B7E3B}"/>
              </a:ext>
            </a:extLst>
          </p:cNvPr>
          <p:cNvSpPr txBox="1"/>
          <p:nvPr/>
        </p:nvSpPr>
        <p:spPr>
          <a:xfrm>
            <a:off x="4267200" y="1955799"/>
            <a:ext cx="3759200" cy="381000"/>
          </a:xfrm>
          <a:prstGeom prst="rect">
            <a:avLst/>
          </a:prstGeom>
          <a:noFill/>
        </p:spPr>
        <p:txBody>
          <a:bodyPr vert="horz" wrap="square" lIns="0" tIns="0" rIns="0" bIns="0" rtlCol="0">
            <a:noAutofit/>
          </a:bodyPr>
          <a:lstStyle/>
          <a:p>
            <a:pPr algn="l">
              <a:spcAft>
                <a:spcPts val="300"/>
              </a:spcAft>
            </a:pPr>
            <a:r>
              <a:rPr lang="en-US" sz="2000" b="1">
                <a:solidFill>
                  <a:srgbClr val="0078D4"/>
                </a:solidFill>
                <a:latin typeface="Segoe UI" panose="020B0502040204020203" pitchFamily="34" charset="0"/>
              </a:rPr>
              <a:t>ConcurrentBuilder: fan out</a:t>
            </a:r>
            <a:endParaRPr lang="en-US" sz="2000" b="1" dirty="0" err="1">
              <a:solidFill>
                <a:srgbClr val="0078D4"/>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BDE88A11-E29B-87E3-80C9-E58F34FE4D84}"/>
              </a:ext>
            </a:extLst>
          </p:cNvPr>
          <p:cNvCxnSpPr/>
          <p:nvPr/>
        </p:nvCxnSpPr>
        <p:spPr>
          <a:xfrm>
            <a:off x="6096000" y="2374900"/>
            <a:ext cx="0" cy="16510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81C2A0C-DD3C-0FEC-D4FB-B1E0DDF62FEE}"/>
              </a:ext>
            </a:extLst>
          </p:cNvPr>
          <p:cNvCxnSpPr/>
          <p:nvPr/>
        </p:nvCxnSpPr>
        <p:spPr>
          <a:xfrm>
            <a:off x="2311400" y="2540000"/>
            <a:ext cx="7556500" cy="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553B26A-97C2-A886-729E-B3D6455E90C4}"/>
              </a:ext>
            </a:extLst>
          </p:cNvPr>
          <p:cNvCxnSpPr/>
          <p:nvPr/>
        </p:nvCxnSpPr>
        <p:spPr>
          <a:xfrm>
            <a:off x="2311400" y="2540000"/>
            <a:ext cx="0" cy="17780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9E7430E-3347-1596-6FB7-7B7326403028}"/>
              </a:ext>
            </a:extLst>
          </p:cNvPr>
          <p:cNvCxnSpPr/>
          <p:nvPr/>
        </p:nvCxnSpPr>
        <p:spPr>
          <a:xfrm>
            <a:off x="6083300" y="2540000"/>
            <a:ext cx="0" cy="17780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8FE2D2-83F7-9EAC-258D-ED64B4153A0C}"/>
              </a:ext>
            </a:extLst>
          </p:cNvPr>
          <p:cNvCxnSpPr/>
          <p:nvPr/>
        </p:nvCxnSpPr>
        <p:spPr>
          <a:xfrm>
            <a:off x="9867900" y="2540000"/>
            <a:ext cx="0" cy="17780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81F28560-0810-8A89-E5DD-720BA40ADEA9}"/>
              </a:ext>
            </a:extLst>
          </p:cNvPr>
          <p:cNvSpPr/>
          <p:nvPr/>
        </p:nvSpPr>
        <p:spPr bwMode="auto">
          <a:xfrm>
            <a:off x="584200" y="2768600"/>
            <a:ext cx="3467100" cy="18034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5793A21F-5FBB-7477-B824-9BCAF29FBE1F}"/>
              </a:ext>
            </a:extLst>
          </p:cNvPr>
          <p:cNvSpPr txBox="1"/>
          <p:nvPr/>
        </p:nvSpPr>
        <p:spPr>
          <a:xfrm>
            <a:off x="787400" y="2908299"/>
            <a:ext cx="3060700" cy="381000"/>
          </a:xfrm>
          <a:prstGeom prst="rect">
            <a:avLst/>
          </a:prstGeom>
          <a:noFill/>
        </p:spPr>
        <p:txBody>
          <a:bodyPr vert="horz" wrap="square" lIns="0" tIns="0" rIns="0" bIns="0" rtlCol="0">
            <a:noAutofit/>
          </a:bodyPr>
          <a:lstStyle/>
          <a:p>
            <a:pPr algn="l">
              <a:spcAft>
                <a:spcPts val="300"/>
              </a:spcAft>
            </a:pPr>
            <a:r>
              <a:rPr lang="en-US" b="1">
                <a:solidFill>
                  <a:srgbClr val="007E91"/>
                </a:solidFill>
                <a:latin typeface="Segoe UI" panose="020B0502040204020203" pitchFamily="34" charset="0"/>
              </a:rPr>
              <a:t>Threat intelligence</a:t>
            </a:r>
            <a:endParaRPr lang="en-US" b="1" dirty="0" err="1">
              <a:solidFill>
                <a:srgbClr val="007E91"/>
              </a:solidFill>
              <a:latin typeface="Segoe UI" panose="020B0502040204020203" pitchFamily="34" charset="0"/>
            </a:endParaRPr>
          </a:p>
        </p:txBody>
      </p:sp>
      <p:sp>
        <p:nvSpPr>
          <p:cNvPr id="13" name="TextBox 12">
            <a:extLst>
              <a:ext uri="{FF2B5EF4-FFF2-40B4-BE49-F238E27FC236}">
                <a16:creationId xmlns:a16="http://schemas.microsoft.com/office/drawing/2014/main" id="{F3890B34-F144-4895-28C5-52D66C163FBE}"/>
              </a:ext>
            </a:extLst>
          </p:cNvPr>
          <p:cNvSpPr txBox="1"/>
          <p:nvPr/>
        </p:nvSpPr>
        <p:spPr>
          <a:xfrm>
            <a:off x="787400" y="3327399"/>
            <a:ext cx="3060700" cy="11303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WebIQ MCP</a:t>
            </a:r>
          </a:p>
          <a:p>
            <a:pPr algn="l">
              <a:spcAft>
                <a:spcPts val="300"/>
              </a:spcAft>
            </a:pPr>
            <a:r>
              <a:rPr lang="en-US" sz="1500">
                <a:solidFill>
                  <a:srgbClr val="202020"/>
                </a:solidFill>
                <a:latin typeface="Segoe UI" panose="020B0502040204020203" pitchFamily="34" charset="0"/>
              </a:rPr>
              <a:t>Public containment and recovery guidance.</a:t>
            </a:r>
            <a:endParaRPr lang="en-US" sz="1500" dirty="0" err="1">
              <a:solidFill>
                <a:srgbClr val="202020"/>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722E9A3C-DBBF-E37B-28F2-535230D175E5}"/>
              </a:ext>
            </a:extLst>
          </p:cNvPr>
          <p:cNvSpPr/>
          <p:nvPr/>
        </p:nvSpPr>
        <p:spPr bwMode="auto">
          <a:xfrm>
            <a:off x="4356100" y="2768600"/>
            <a:ext cx="3467100" cy="18034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4BD9680F-047B-2B0D-85C5-8B4BB981AF97}"/>
              </a:ext>
            </a:extLst>
          </p:cNvPr>
          <p:cNvSpPr txBox="1"/>
          <p:nvPr/>
        </p:nvSpPr>
        <p:spPr>
          <a:xfrm>
            <a:off x="4559300" y="2908299"/>
            <a:ext cx="3060700"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Policy analyst</a:t>
            </a:r>
            <a:endParaRPr lang="en-US" b="1" dirty="0" err="1">
              <a:solidFill>
                <a:srgbClr val="8055C8"/>
              </a:solidFill>
              <a:latin typeface="Segoe UI" panose="020B0502040204020203" pitchFamily="34" charset="0"/>
            </a:endParaRPr>
          </a:p>
        </p:txBody>
      </p:sp>
      <p:sp>
        <p:nvSpPr>
          <p:cNvPr id="16" name="TextBox 15">
            <a:extLst>
              <a:ext uri="{FF2B5EF4-FFF2-40B4-BE49-F238E27FC236}">
                <a16:creationId xmlns:a16="http://schemas.microsoft.com/office/drawing/2014/main" id="{55BD322D-9B2B-A915-828F-AE465F15994F}"/>
              </a:ext>
            </a:extLst>
          </p:cNvPr>
          <p:cNvSpPr txBox="1"/>
          <p:nvPr/>
        </p:nvSpPr>
        <p:spPr>
          <a:xfrm>
            <a:off x="4559300" y="3327399"/>
            <a:ext cx="3060700" cy="11303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Local evidence MCP</a:t>
            </a:r>
          </a:p>
          <a:p>
            <a:pPr algn="l">
              <a:spcAft>
                <a:spcPts val="300"/>
              </a:spcAft>
            </a:pPr>
            <a:r>
              <a:rPr lang="en-US" sz="1500">
                <a:solidFill>
                  <a:srgbClr val="202020"/>
                </a:solidFill>
                <a:latin typeface="Segoe UI" panose="020B0502040204020203" pitchFamily="34" charset="0"/>
              </a:rPr>
              <a:t>Incident facts, policy, and approval gates.</a:t>
            </a:r>
            <a:endParaRPr lang="en-US" sz="1500" dirty="0" err="1">
              <a:solidFill>
                <a:srgbClr val="202020"/>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2DA5D9F0-AF7C-4B3B-AC9A-C5CE8453CB99}"/>
              </a:ext>
            </a:extLst>
          </p:cNvPr>
          <p:cNvSpPr/>
          <p:nvPr/>
        </p:nvSpPr>
        <p:spPr bwMode="auto">
          <a:xfrm>
            <a:off x="8140700" y="2768600"/>
            <a:ext cx="3467100" cy="18034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12DF242A-9F72-85A4-B437-D414B53B96DB}"/>
              </a:ext>
            </a:extLst>
          </p:cNvPr>
          <p:cNvSpPr txBox="1"/>
          <p:nvPr/>
        </p:nvSpPr>
        <p:spPr>
          <a:xfrm>
            <a:off x="8343900" y="2908299"/>
            <a:ext cx="3060700" cy="381000"/>
          </a:xfrm>
          <a:prstGeom prst="rect">
            <a:avLst/>
          </a:prstGeom>
          <a:noFill/>
        </p:spPr>
        <p:txBody>
          <a:bodyPr vert="horz" wrap="square" lIns="0" tIns="0" rIns="0" bIns="0" rtlCol="0">
            <a:noAutofit/>
          </a:bodyPr>
          <a:lstStyle/>
          <a:p>
            <a:pPr algn="l">
              <a:spcAft>
                <a:spcPts val="300"/>
              </a:spcAft>
            </a:pPr>
            <a:r>
              <a:rPr lang="en-US" b="1">
                <a:solidFill>
                  <a:srgbClr val="167447"/>
                </a:solidFill>
                <a:latin typeface="Segoe UI" panose="020B0502040204020203" pitchFamily="34" charset="0"/>
              </a:rPr>
              <a:t>Recovery posture</a:t>
            </a:r>
            <a:endParaRPr lang="en-US" b="1" dirty="0" err="1">
              <a:solidFill>
                <a:srgbClr val="167447"/>
              </a:solidFill>
              <a:latin typeface="Segoe UI" panose="020B0502040204020203" pitchFamily="34" charset="0"/>
            </a:endParaRPr>
          </a:p>
        </p:txBody>
      </p:sp>
      <p:sp>
        <p:nvSpPr>
          <p:cNvPr id="19" name="TextBox 18">
            <a:extLst>
              <a:ext uri="{FF2B5EF4-FFF2-40B4-BE49-F238E27FC236}">
                <a16:creationId xmlns:a16="http://schemas.microsoft.com/office/drawing/2014/main" id="{33B6D34B-0B32-CA20-EB76-FCCBD3980AC4}"/>
              </a:ext>
            </a:extLst>
          </p:cNvPr>
          <p:cNvSpPr txBox="1"/>
          <p:nvPr/>
        </p:nvSpPr>
        <p:spPr>
          <a:xfrm>
            <a:off x="8343900" y="3327399"/>
            <a:ext cx="3060700" cy="11303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Local evidence MCP</a:t>
            </a:r>
          </a:p>
          <a:p>
            <a:pPr algn="l">
              <a:spcAft>
                <a:spcPts val="300"/>
              </a:spcAft>
            </a:pPr>
            <a:r>
              <a:rPr lang="en-US" sz="1500">
                <a:solidFill>
                  <a:srgbClr val="202020"/>
                </a:solidFill>
                <a:latin typeface="Segoe UI" panose="020B0502040204020203" pitchFamily="34" charset="0"/>
              </a:rPr>
              <a:t>Read-only SQLite views: RPO, RTO, test status.</a:t>
            </a:r>
            <a:endParaRPr lang="en-US" sz="1500" dirty="0" err="1">
              <a:solidFill>
                <a:srgbClr val="202020"/>
              </a:solidFill>
              <a:latin typeface="Segoe UI" panose="020B0502040204020203" pitchFamily="34" charset="0"/>
            </a:endParaRPr>
          </a:p>
        </p:txBody>
      </p:sp>
      <p:cxnSp>
        <p:nvCxnSpPr>
          <p:cNvPr id="20" name="Straight Connector 19">
            <a:extLst>
              <a:ext uri="{FF2B5EF4-FFF2-40B4-BE49-F238E27FC236}">
                <a16:creationId xmlns:a16="http://schemas.microsoft.com/office/drawing/2014/main" id="{392854F3-C535-BC11-5E1D-E164F514A1B0}"/>
              </a:ext>
            </a:extLst>
          </p:cNvPr>
          <p:cNvCxnSpPr/>
          <p:nvPr/>
        </p:nvCxnSpPr>
        <p:spPr>
          <a:xfrm>
            <a:off x="2311400" y="4572000"/>
            <a:ext cx="0" cy="15240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F430B6-6585-C115-34DD-EE88476C0AEE}"/>
              </a:ext>
            </a:extLst>
          </p:cNvPr>
          <p:cNvCxnSpPr/>
          <p:nvPr/>
        </p:nvCxnSpPr>
        <p:spPr>
          <a:xfrm>
            <a:off x="6083300" y="4572000"/>
            <a:ext cx="0" cy="15240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EF184E2-55F2-A891-BB20-3BED996A9A9C}"/>
              </a:ext>
            </a:extLst>
          </p:cNvPr>
          <p:cNvCxnSpPr/>
          <p:nvPr/>
        </p:nvCxnSpPr>
        <p:spPr>
          <a:xfrm>
            <a:off x="9867900" y="4572000"/>
            <a:ext cx="0" cy="15240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700E031-2DD2-8E7D-22F4-F658BD5BE80B}"/>
              </a:ext>
            </a:extLst>
          </p:cNvPr>
          <p:cNvCxnSpPr/>
          <p:nvPr/>
        </p:nvCxnSpPr>
        <p:spPr>
          <a:xfrm>
            <a:off x="2311400" y="4724400"/>
            <a:ext cx="7556500" cy="0"/>
          </a:xfrm>
          <a:prstGeom prst="line">
            <a:avLst/>
          </a:prstGeom>
          <a:ln w="22860">
            <a:solidFill>
              <a:srgbClr val="8055C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0539B84-2FCD-7670-2677-402132DB7271}"/>
              </a:ext>
            </a:extLst>
          </p:cNvPr>
          <p:cNvCxnSpPr/>
          <p:nvPr/>
        </p:nvCxnSpPr>
        <p:spPr>
          <a:xfrm>
            <a:off x="6096000" y="4724400"/>
            <a:ext cx="0" cy="17780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DD24E912-7405-ECA5-934E-E6CD8A6F2536}"/>
              </a:ext>
            </a:extLst>
          </p:cNvPr>
          <p:cNvSpPr/>
          <p:nvPr/>
        </p:nvSpPr>
        <p:spPr bwMode="auto">
          <a:xfrm>
            <a:off x="2540000" y="4940300"/>
            <a:ext cx="7112000" cy="469900"/>
          </a:xfrm>
          <a:prstGeom prst="roundRect">
            <a:avLst>
              <a:gd name="adj" fmla="val 12000"/>
            </a:avLst>
          </a:prstGeom>
          <a:solidFill>
            <a:srgbClr val="EEE7F8"/>
          </a:solidFill>
          <a:ln w="10160">
            <a:solidFill>
              <a:srgbClr val="EEE7F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6" name="TextBox 25">
            <a:extLst>
              <a:ext uri="{FF2B5EF4-FFF2-40B4-BE49-F238E27FC236}">
                <a16:creationId xmlns:a16="http://schemas.microsoft.com/office/drawing/2014/main" id="{9DA83071-BAE8-2DEC-FD79-328B98DC723B}"/>
              </a:ext>
            </a:extLst>
          </p:cNvPr>
          <p:cNvSpPr txBox="1"/>
          <p:nvPr/>
        </p:nvSpPr>
        <p:spPr>
          <a:xfrm>
            <a:off x="2794000" y="5003799"/>
            <a:ext cx="6642100" cy="355600"/>
          </a:xfrm>
          <a:prstGeom prst="rect">
            <a:avLst/>
          </a:prstGeom>
          <a:noFill/>
        </p:spPr>
        <p:txBody>
          <a:bodyPr vert="horz" wrap="square" lIns="0" tIns="0" rIns="0" bIns="0" rtlCol="0">
            <a:noAutofit/>
          </a:bodyPr>
          <a:lstStyle/>
          <a:p>
            <a:pPr algn="l">
              <a:spcAft>
                <a:spcPts val="300"/>
              </a:spcAft>
            </a:pPr>
            <a:r>
              <a:rPr lang="en-US" sz="2000" b="1">
                <a:solidFill>
                  <a:srgbClr val="8055C8"/>
                </a:solidFill>
                <a:latin typeface="Segoe UI" panose="020B0502040204020203" pitchFamily="34" charset="0"/>
              </a:rPr>
              <a:t>Fan in: incident commander synthesis</a:t>
            </a:r>
            <a:endParaRPr lang="en-US" sz="2000" b="1" dirty="0" err="1">
              <a:solidFill>
                <a:srgbClr val="8055C8"/>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5307E08A-1055-9619-6258-C0B433D6BDDC}"/>
              </a:ext>
            </a:extLst>
          </p:cNvPr>
          <p:cNvSpPr/>
          <p:nvPr/>
        </p:nvSpPr>
        <p:spPr bwMode="auto">
          <a:xfrm>
            <a:off x="584200" y="5524500"/>
            <a:ext cx="11023600" cy="546100"/>
          </a:xfrm>
          <a:prstGeom prst="roundRect">
            <a:avLst>
              <a:gd name="adj" fmla="val 12000"/>
            </a:avLst>
          </a:prstGeom>
          <a:solidFill>
            <a:srgbClr val="E4F2FA"/>
          </a:solidFill>
          <a:ln w="10160">
            <a:solidFill>
              <a:srgbClr val="E4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8" name="TextBox 27">
            <a:extLst>
              <a:ext uri="{FF2B5EF4-FFF2-40B4-BE49-F238E27FC236}">
                <a16:creationId xmlns:a16="http://schemas.microsoft.com/office/drawing/2014/main" id="{EA3A3F32-A144-6405-13F5-9529E6051ACE}"/>
              </a:ext>
            </a:extLst>
          </p:cNvPr>
          <p:cNvSpPr txBox="1"/>
          <p:nvPr/>
        </p:nvSpPr>
        <p:spPr>
          <a:xfrm>
            <a:off x="762000" y="5651500"/>
            <a:ext cx="10668000" cy="317500"/>
          </a:xfrm>
          <a:prstGeom prst="rect">
            <a:avLst/>
          </a:prstGeom>
          <a:noFill/>
        </p:spPr>
        <p:txBody>
          <a:bodyPr vert="horz" wrap="square" lIns="0" tIns="0" rIns="0" bIns="0" rtlCol="0">
            <a:noAutofit/>
          </a:bodyPr>
          <a:lstStyle/>
          <a:p>
            <a:pPr algn="l">
              <a:spcAft>
                <a:spcPts val="300"/>
              </a:spcAft>
            </a:pPr>
            <a:r>
              <a:rPr lang="en-US" sz="1600" b="1">
                <a:solidFill>
                  <a:srgbClr val="0078D4"/>
                </a:solidFill>
                <a:latin typeface="Segoe UI" panose="020B0502040204020203" pitchFamily="34" charset="0"/>
              </a:rPr>
              <a:t>Business value: reconcile conflicting evidence instead of returning three disconnected answers.</a:t>
            </a:r>
            <a:endParaRPr lang="en-US" sz="1600" b="1" dirty="0" err="1">
              <a:solidFill>
                <a:srgbClr val="0078D4"/>
              </a:solidFill>
              <a:latin typeface="Segoe UI" panose="020B0502040204020203" pitchFamily="34" charset="0"/>
            </a:endParaRPr>
          </a:p>
        </p:txBody>
      </p:sp>
      <p:sp>
        <p:nvSpPr>
          <p:cNvPr id="29" name="TextBox 28">
            <a:extLst>
              <a:ext uri="{FF2B5EF4-FFF2-40B4-BE49-F238E27FC236}">
                <a16:creationId xmlns:a16="http://schemas.microsoft.com/office/drawing/2014/main" id="{1D9912DF-0363-EE29-474E-8402AB0F7893}"/>
              </a:ext>
            </a:extLst>
          </p:cNvPr>
          <p:cNvSpPr txBox="1"/>
          <p:nvPr/>
        </p:nvSpPr>
        <p:spPr>
          <a:xfrm>
            <a:off x="609600" y="6134100"/>
            <a:ext cx="10972800" cy="304800"/>
          </a:xfrm>
          <a:prstGeom prst="rect">
            <a:avLst/>
          </a:prstGeom>
          <a:noFill/>
        </p:spPr>
        <p:txBody>
          <a:bodyPr vert="horz" wrap="square" lIns="0" tIns="0" rIns="0" bIns="0" rtlCol="0">
            <a:noAutofit/>
          </a:bodyPr>
          <a:lstStyle/>
          <a:p>
            <a:pPr algn="l">
              <a:spcAft>
                <a:spcPts val="300"/>
              </a:spcAft>
            </a:pPr>
            <a:r>
              <a:rPr lang="en-US" sz="1050">
                <a:solidFill>
                  <a:srgbClr val="545460"/>
                </a:solidFill>
                <a:latin typeface="Segoe UI" panose="020B0502040204020203" pitchFamily="34" charset="0"/>
              </a:rPr>
              <a:t>Fictional incident + local seed data. No live backup-platform connection or restore authorization.</a:t>
            </a:r>
            <a:endParaRPr lang="en-US" sz="1050" dirty="0" err="1">
              <a:solidFill>
                <a:srgbClr val="545460"/>
              </a:solidFill>
              <a:latin typeface="Segoe UI" panose="020B0502040204020203" pitchFamily="34" charset="0"/>
            </a:endParaRPr>
          </a:p>
        </p:txBody>
      </p:sp>
      <p:sp>
        <p:nvSpPr>
          <p:cNvPr id="30" name="TextBox 29">
            <a:extLst>
              <a:ext uri="{FF2B5EF4-FFF2-40B4-BE49-F238E27FC236}">
                <a16:creationId xmlns:a16="http://schemas.microsoft.com/office/drawing/2014/main" id="{CEC53311-1E41-8C87-B393-26A12E0F5589}"/>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31" name="TextBox 30">
            <a:extLst>
              <a:ext uri="{FF2B5EF4-FFF2-40B4-BE49-F238E27FC236}">
                <a16:creationId xmlns:a16="http://schemas.microsoft.com/office/drawing/2014/main" id="{50B629C8-A777-E252-70D5-D63326325A62}"/>
              </a:ext>
            </a:extLst>
          </p:cNvPr>
          <p:cNvSpPr txBox="1"/>
          <p:nvPr/>
        </p:nvSpPr>
        <p:spPr>
          <a:xfrm>
            <a:off x="6007100" y="6489700"/>
            <a:ext cx="5003800" cy="266700"/>
          </a:xfrm>
          <a:prstGeom prst="rect">
            <a:avLst/>
          </a:prstGeom>
          <a:noFill/>
        </p:spPr>
        <p:txBody>
          <a:bodyPr vert="horz" wrap="square" lIns="0" tIns="0" rIns="0" bIns="0" rtlCol="0">
            <a:noAutofit/>
          </a:bodyPr>
          <a:lstStyle/>
          <a:p>
            <a:pPr algn="l">
              <a:spcAft>
                <a:spcPts val="300"/>
              </a:spcAft>
            </a:pPr>
            <a:r>
              <a:rPr lang="en-US" sz="1000">
                <a:solidFill>
                  <a:srgbClr val="0078D4"/>
                </a:solidFill>
                <a:latin typeface="Segoe UI" panose="020B0502040204020203" pitchFamily="34" charset="0"/>
              </a:rPr>
              <a:t>Concurrent recovery workflow + local evidence MCP</a:t>
            </a:r>
            <a:endParaRPr lang="en-US" sz="1000" dirty="0" err="1">
              <a:solidFill>
                <a:srgbClr val="0078D4"/>
              </a:solidFill>
              <a:latin typeface="Segoe UI" panose="020B0502040204020203" pitchFamily="34" charset="0"/>
            </a:endParaRPr>
          </a:p>
        </p:txBody>
      </p:sp>
      <p:sp>
        <p:nvSpPr>
          <p:cNvPr id="32" name="SlideNumber">
            <a:extLst>
              <a:ext uri="{FF2B5EF4-FFF2-40B4-BE49-F238E27FC236}">
                <a16:creationId xmlns:a16="http://schemas.microsoft.com/office/drawing/2014/main" id="{7BC4E2D5-AE27-567B-FCAF-8B59467A1A2A}"/>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06</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330886578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47A64C-1C26-3C3B-6EB3-1403FE60AB4E}"/>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03  |  Add a harness for longer-running tasks</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4272606A-98DE-1765-545F-7B26661B2E39}"/>
              </a:ext>
            </a:extLst>
          </p:cNvPr>
          <p:cNvSpPr txBox="1"/>
          <p:nvPr/>
        </p:nvSpPr>
        <p:spPr>
          <a:xfrm>
            <a:off x="609600" y="1193799"/>
            <a:ext cx="10985500" cy="584200"/>
          </a:xfrm>
          <a:prstGeom prst="rect">
            <a:avLst/>
          </a:prstGeom>
          <a:noFill/>
        </p:spPr>
        <p:txBody>
          <a:bodyPr vert="horz" wrap="square" lIns="0" tIns="0" rIns="0" bIns="0" rtlCol="0">
            <a:noAutofit/>
          </a:bodyPr>
          <a:lstStyle/>
          <a:p>
            <a:pPr algn="l">
              <a:spcAft>
                <a:spcPts val="300"/>
              </a:spcAft>
            </a:pPr>
            <a:r>
              <a:rPr lang="en-US" sz="1700" dirty="0">
                <a:solidFill>
                  <a:srgbClr val="545460"/>
                </a:solidFill>
                <a:latin typeface="Segoe UI" panose="020B0502040204020203" pitchFamily="34" charset="0"/>
              </a:rPr>
              <a:t>The travel concierge illustrates reusable runtime capabilities.</a:t>
            </a:r>
          </a:p>
        </p:txBody>
      </p:sp>
      <p:sp>
        <p:nvSpPr>
          <p:cNvPr id="4" name="Rectangle: Rounded Corners 3">
            <a:extLst>
              <a:ext uri="{FF2B5EF4-FFF2-40B4-BE49-F238E27FC236}">
                <a16:creationId xmlns:a16="http://schemas.microsoft.com/office/drawing/2014/main" id="{19781A9E-FBDD-CDE4-F0E4-6BB40E0CBE83}"/>
              </a:ext>
            </a:extLst>
          </p:cNvPr>
          <p:cNvSpPr/>
          <p:nvPr/>
        </p:nvSpPr>
        <p:spPr bwMode="auto">
          <a:xfrm>
            <a:off x="584200" y="1955800"/>
            <a:ext cx="4191000" cy="3365500"/>
          </a:xfrm>
          <a:prstGeom prst="roundRect">
            <a:avLst>
              <a:gd name="adj" fmla="val 12000"/>
            </a:avLst>
          </a:prstGeom>
          <a:solidFill>
            <a:srgbClr val="EAE8E1"/>
          </a:solidFill>
          <a:ln w="10160">
            <a:solidFill>
              <a:srgbClr val="EAE8E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A407D9DA-DBC4-C0AC-EA2D-02FE5FC5DB9F}"/>
              </a:ext>
            </a:extLst>
          </p:cNvPr>
          <p:cNvSpPr txBox="1"/>
          <p:nvPr/>
        </p:nvSpPr>
        <p:spPr>
          <a:xfrm>
            <a:off x="787400" y="2209799"/>
            <a:ext cx="3848100" cy="533400"/>
          </a:xfrm>
          <a:prstGeom prst="rect">
            <a:avLst/>
          </a:prstGeom>
          <a:noFill/>
        </p:spPr>
        <p:txBody>
          <a:bodyPr vert="horz" wrap="square" lIns="0" tIns="0" rIns="0" bIns="0" rtlCol="0">
            <a:noAutofit/>
          </a:bodyPr>
          <a:lstStyle/>
          <a:p>
            <a:pPr algn="l">
              <a:spcAft>
                <a:spcPts val="300"/>
              </a:spcAft>
            </a:pPr>
            <a:r>
              <a:rPr lang="en-US" sz="2300" b="1">
                <a:solidFill>
                  <a:srgbClr val="0078D4"/>
                </a:solidFill>
                <a:latin typeface="Segoe UI" panose="020B0502040204020203" pitchFamily="34" charset="0"/>
              </a:rPr>
              <a:t>create_harness_agent()</a:t>
            </a:r>
            <a:endParaRPr lang="en-US" sz="2300" b="1" dirty="0" err="1">
              <a:solidFill>
                <a:srgbClr val="0078D4"/>
              </a:solidFill>
              <a:latin typeface="Segoe UI" panose="020B0502040204020203" pitchFamily="34" charset="0"/>
            </a:endParaRPr>
          </a:p>
        </p:txBody>
      </p:sp>
      <p:sp>
        <p:nvSpPr>
          <p:cNvPr id="6" name="TextBox 5">
            <a:extLst>
              <a:ext uri="{FF2B5EF4-FFF2-40B4-BE49-F238E27FC236}">
                <a16:creationId xmlns:a16="http://schemas.microsoft.com/office/drawing/2014/main" id="{A8213605-D4B4-AD44-5487-D3DC09C0CE67}"/>
              </a:ext>
            </a:extLst>
          </p:cNvPr>
          <p:cNvSpPr txBox="1"/>
          <p:nvPr/>
        </p:nvSpPr>
        <p:spPr>
          <a:xfrm>
            <a:off x="800100" y="2984499"/>
            <a:ext cx="3708400" cy="1282700"/>
          </a:xfrm>
          <a:prstGeom prst="rect">
            <a:avLst/>
          </a:prstGeom>
          <a:noFill/>
        </p:spPr>
        <p:txBody>
          <a:bodyPr vert="horz" wrap="square" lIns="0" tIns="0" rIns="0" bIns="0" rtlCol="0">
            <a:noAutofit/>
          </a:bodyPr>
          <a:lstStyle/>
          <a:p>
            <a:pPr algn="l">
              <a:spcAft>
                <a:spcPts val="300"/>
              </a:spcAft>
            </a:pPr>
            <a:r>
              <a:rPr lang="en-US" sz="2100">
                <a:solidFill>
                  <a:srgbClr val="202020"/>
                </a:solidFill>
                <a:latin typeface="Segoe UI" panose="020B0502040204020203" pitchFamily="34" charset="0"/>
              </a:rPr>
              <a:t>A preconfigured Agent</a:t>
            </a:r>
          </a:p>
          <a:p>
            <a:pPr algn="l">
              <a:spcAft>
                <a:spcPts val="300"/>
              </a:spcAft>
            </a:pPr>
            <a:r>
              <a:rPr lang="en-US" sz="2100">
                <a:solidFill>
                  <a:srgbClr val="202020"/>
                </a:solidFill>
                <a:latin typeface="Segoe UI" panose="020B0502040204020203" pitchFamily="34" charset="0"/>
              </a:rPr>
              <a:t>with planning tools, memory,</a:t>
            </a:r>
          </a:p>
          <a:p>
            <a:pPr algn="l">
              <a:spcAft>
                <a:spcPts val="300"/>
              </a:spcAft>
            </a:pPr>
            <a:r>
              <a:rPr lang="en-US" sz="2100">
                <a:solidFill>
                  <a:srgbClr val="202020"/>
                </a:solidFill>
                <a:latin typeface="Segoe UI" panose="020B0502040204020203" pitchFamily="34" charset="0"/>
              </a:rPr>
              <a:t>and context management.</a:t>
            </a:r>
            <a:endParaRPr lang="en-US" sz="2100" dirty="0" err="1">
              <a:solidFill>
                <a:srgbClr val="202020"/>
              </a:solidFill>
              <a:latin typeface="Segoe UI" panose="020B0502040204020203" pitchFamily="34" charset="0"/>
            </a:endParaRPr>
          </a:p>
        </p:txBody>
      </p:sp>
      <p:sp>
        <p:nvSpPr>
          <p:cNvPr id="7" name="TextBox 6">
            <a:extLst>
              <a:ext uri="{FF2B5EF4-FFF2-40B4-BE49-F238E27FC236}">
                <a16:creationId xmlns:a16="http://schemas.microsoft.com/office/drawing/2014/main" id="{4ACA703D-DE63-D490-72DC-9C9CE178E2ED}"/>
              </a:ext>
            </a:extLst>
          </p:cNvPr>
          <p:cNvSpPr txBox="1"/>
          <p:nvPr/>
        </p:nvSpPr>
        <p:spPr>
          <a:xfrm>
            <a:off x="800100" y="4457699"/>
            <a:ext cx="3632200" cy="660400"/>
          </a:xfrm>
          <a:prstGeom prst="rect">
            <a:avLst/>
          </a:prstGeom>
          <a:noFill/>
        </p:spPr>
        <p:txBody>
          <a:bodyPr vert="horz" wrap="square" lIns="0" tIns="0" rIns="0" bIns="0" rtlCol="0">
            <a:noAutofit/>
          </a:bodyPr>
          <a:lstStyle/>
          <a:p>
            <a:pPr algn="l">
              <a:spcAft>
                <a:spcPts val="300"/>
              </a:spcAft>
            </a:pPr>
            <a:r>
              <a:rPr lang="en-US" sz="1700">
                <a:solidFill>
                  <a:srgbClr val="545460"/>
                </a:solidFill>
                <a:latin typeface="Segoe UI" panose="020B0502040204020203" pitchFamily="34" charset="0"/>
              </a:rPr>
              <a:t>Travel preferences today; operator context as a future application.</a:t>
            </a:r>
            <a:endParaRPr lang="en-US" sz="1700" dirty="0" err="1">
              <a:solidFill>
                <a:srgbClr val="545460"/>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72FDB659-2894-5021-675A-3D1AD4D8C50B}"/>
              </a:ext>
            </a:extLst>
          </p:cNvPr>
          <p:cNvSpPr/>
          <p:nvPr/>
        </p:nvSpPr>
        <p:spPr bwMode="auto">
          <a:xfrm>
            <a:off x="5092700" y="1955800"/>
            <a:ext cx="6515100" cy="10160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79B02DB6-73CA-1AFA-B013-D815C3BC5678}"/>
              </a:ext>
            </a:extLst>
          </p:cNvPr>
          <p:cNvSpPr txBox="1"/>
          <p:nvPr/>
        </p:nvSpPr>
        <p:spPr>
          <a:xfrm>
            <a:off x="5295900" y="2095499"/>
            <a:ext cx="6108700" cy="3810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Plan + track</a:t>
            </a:r>
            <a:endParaRPr lang="en-US" b="1" dirty="0" err="1">
              <a:solidFill>
                <a:srgbClr val="0078D4"/>
              </a:solidFill>
              <a:latin typeface="Segoe UI" panose="020B0502040204020203" pitchFamily="34" charset="0"/>
            </a:endParaRPr>
          </a:p>
        </p:txBody>
      </p:sp>
      <p:sp>
        <p:nvSpPr>
          <p:cNvPr id="10" name="TextBox 9">
            <a:extLst>
              <a:ext uri="{FF2B5EF4-FFF2-40B4-BE49-F238E27FC236}">
                <a16:creationId xmlns:a16="http://schemas.microsoft.com/office/drawing/2014/main" id="{D66DD604-D98C-1A26-D5AA-E39701CE3EE1}"/>
              </a:ext>
            </a:extLst>
          </p:cNvPr>
          <p:cNvSpPr txBox="1"/>
          <p:nvPr/>
        </p:nvSpPr>
        <p:spPr>
          <a:xfrm>
            <a:off x="5295900" y="2514599"/>
            <a:ext cx="6108700" cy="3429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Plan/execute modes and to-do tracking.</a:t>
            </a:r>
            <a:endParaRPr lang="en-US" sz="1500" dirty="0" err="1">
              <a:solidFill>
                <a:srgbClr val="202020"/>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237FDE90-A82B-C431-2E3E-B1B0D9667B6A}"/>
              </a:ext>
            </a:extLst>
          </p:cNvPr>
          <p:cNvSpPr/>
          <p:nvPr/>
        </p:nvSpPr>
        <p:spPr bwMode="auto">
          <a:xfrm>
            <a:off x="5092700" y="3136900"/>
            <a:ext cx="6515100" cy="10160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368A2C2E-5ED8-1442-0742-80DC780E477E}"/>
              </a:ext>
            </a:extLst>
          </p:cNvPr>
          <p:cNvSpPr txBox="1"/>
          <p:nvPr/>
        </p:nvSpPr>
        <p:spPr>
          <a:xfrm>
            <a:off x="5295900" y="3276599"/>
            <a:ext cx="6108700"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Remember + compact</a:t>
            </a:r>
            <a:endParaRPr lang="en-US" b="1" dirty="0" err="1">
              <a:solidFill>
                <a:srgbClr val="8055C8"/>
              </a:solidFill>
              <a:latin typeface="Segoe UI" panose="020B0502040204020203" pitchFamily="34" charset="0"/>
            </a:endParaRPr>
          </a:p>
        </p:txBody>
      </p:sp>
      <p:sp>
        <p:nvSpPr>
          <p:cNvPr id="13" name="TextBox 12">
            <a:extLst>
              <a:ext uri="{FF2B5EF4-FFF2-40B4-BE49-F238E27FC236}">
                <a16:creationId xmlns:a16="http://schemas.microsoft.com/office/drawing/2014/main" id="{08009638-ACD2-22F1-63B4-48B5A6349042}"/>
              </a:ext>
            </a:extLst>
          </p:cNvPr>
          <p:cNvSpPr txBox="1"/>
          <p:nvPr/>
        </p:nvSpPr>
        <p:spPr>
          <a:xfrm>
            <a:off x="5295900" y="3695699"/>
            <a:ext cx="6108700" cy="3429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Scoped file memory + conversation summarization.</a:t>
            </a:r>
            <a:endParaRPr lang="en-US" sz="1500" dirty="0" err="1">
              <a:solidFill>
                <a:srgbClr val="202020"/>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A3545A57-6B7F-3549-3FCB-E889F1967719}"/>
              </a:ext>
            </a:extLst>
          </p:cNvPr>
          <p:cNvSpPr/>
          <p:nvPr/>
        </p:nvSpPr>
        <p:spPr bwMode="auto">
          <a:xfrm>
            <a:off x="5092700" y="4318000"/>
            <a:ext cx="6515100" cy="10160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5" name="TextBox 14">
            <a:extLst>
              <a:ext uri="{FF2B5EF4-FFF2-40B4-BE49-F238E27FC236}">
                <a16:creationId xmlns:a16="http://schemas.microsoft.com/office/drawing/2014/main" id="{3CEEA55C-AC7C-F263-79E5-36008CD80B9E}"/>
              </a:ext>
            </a:extLst>
          </p:cNvPr>
          <p:cNvSpPr txBox="1"/>
          <p:nvPr/>
        </p:nvSpPr>
        <p:spPr>
          <a:xfrm>
            <a:off x="5295900" y="4457699"/>
            <a:ext cx="6108700" cy="381000"/>
          </a:xfrm>
          <a:prstGeom prst="rect">
            <a:avLst/>
          </a:prstGeom>
          <a:noFill/>
        </p:spPr>
        <p:txBody>
          <a:bodyPr vert="horz" wrap="square" lIns="0" tIns="0" rIns="0" bIns="0" rtlCol="0">
            <a:noAutofit/>
          </a:bodyPr>
          <a:lstStyle/>
          <a:p>
            <a:pPr algn="l">
              <a:spcAft>
                <a:spcPts val="300"/>
              </a:spcAft>
            </a:pPr>
            <a:r>
              <a:rPr lang="en-US" b="1">
                <a:solidFill>
                  <a:srgbClr val="008F99"/>
                </a:solidFill>
                <a:latin typeface="Segoe UI" panose="020B0502040204020203" pitchFamily="34" charset="0"/>
              </a:rPr>
              <a:t>Ground in tools</a:t>
            </a:r>
            <a:endParaRPr lang="en-US" b="1" dirty="0" err="1">
              <a:solidFill>
                <a:srgbClr val="008F99"/>
              </a:solidFill>
              <a:latin typeface="Segoe UI" panose="020B0502040204020203" pitchFamily="34" charset="0"/>
            </a:endParaRPr>
          </a:p>
        </p:txBody>
      </p:sp>
      <p:sp>
        <p:nvSpPr>
          <p:cNvPr id="16" name="TextBox 15">
            <a:extLst>
              <a:ext uri="{FF2B5EF4-FFF2-40B4-BE49-F238E27FC236}">
                <a16:creationId xmlns:a16="http://schemas.microsoft.com/office/drawing/2014/main" id="{565914B2-AD99-5431-88F1-E83D7D80645B}"/>
              </a:ext>
            </a:extLst>
          </p:cNvPr>
          <p:cNvSpPr txBox="1"/>
          <p:nvPr/>
        </p:nvSpPr>
        <p:spPr>
          <a:xfrm>
            <a:off x="5295900" y="4876799"/>
            <a:ext cx="6108700" cy="3429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WebIQ MCP grounds recommendations in sources.</a:t>
            </a:r>
            <a:endParaRPr lang="en-US" sz="1500" dirty="0" err="1">
              <a:solidFill>
                <a:srgbClr val="202020"/>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7149FF77-E74A-F1AB-BE3E-DDEE40D70792}"/>
              </a:ext>
            </a:extLst>
          </p:cNvPr>
          <p:cNvSpPr/>
          <p:nvPr/>
        </p:nvSpPr>
        <p:spPr bwMode="auto">
          <a:xfrm>
            <a:off x="584200" y="5524500"/>
            <a:ext cx="11023600" cy="546100"/>
          </a:xfrm>
          <a:prstGeom prst="roundRect">
            <a:avLst>
              <a:gd name="adj" fmla="val 12000"/>
            </a:avLst>
          </a:prstGeom>
          <a:solidFill>
            <a:srgbClr val="E4F2FA"/>
          </a:solidFill>
          <a:ln w="10160">
            <a:solidFill>
              <a:srgbClr val="E4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5FF0A5B3-7A3C-F9FD-8512-66FAE1DE0015}"/>
              </a:ext>
            </a:extLst>
          </p:cNvPr>
          <p:cNvSpPr txBox="1"/>
          <p:nvPr/>
        </p:nvSpPr>
        <p:spPr>
          <a:xfrm>
            <a:off x="762000" y="5651500"/>
            <a:ext cx="10668000" cy="317500"/>
          </a:xfrm>
          <a:prstGeom prst="rect">
            <a:avLst/>
          </a:prstGeom>
          <a:noFill/>
        </p:spPr>
        <p:txBody>
          <a:bodyPr vert="horz" wrap="square" lIns="0" tIns="0" rIns="0" bIns="0" rtlCol="0">
            <a:noAutofit/>
          </a:bodyPr>
          <a:lstStyle/>
          <a:p>
            <a:pPr algn="l">
              <a:spcAft>
                <a:spcPts val="300"/>
              </a:spcAft>
            </a:pPr>
            <a:r>
              <a:rPr lang="en-US" sz="1600" b="1">
                <a:solidFill>
                  <a:srgbClr val="0078D4"/>
                </a:solidFill>
                <a:latin typeface="Segoe UI" panose="020B0502040204020203" pitchFamily="34" charset="0"/>
              </a:rPr>
              <a:t>Application opportunity: carry operator context across a multi-step investigation.</a:t>
            </a:r>
            <a:endParaRPr lang="en-US" sz="1600" b="1" dirty="0" err="1">
              <a:solidFill>
                <a:srgbClr val="0078D4"/>
              </a:solidFill>
              <a:latin typeface="Segoe UI" panose="020B0502040204020203" pitchFamily="34" charset="0"/>
            </a:endParaRPr>
          </a:p>
        </p:txBody>
      </p:sp>
      <p:sp>
        <p:nvSpPr>
          <p:cNvPr id="19" name="TextBox 18">
            <a:extLst>
              <a:ext uri="{FF2B5EF4-FFF2-40B4-BE49-F238E27FC236}">
                <a16:creationId xmlns:a16="http://schemas.microsoft.com/office/drawing/2014/main" id="{D8F5D210-53BE-E146-0FEB-172684E9D67B}"/>
              </a:ext>
            </a:extLst>
          </p:cNvPr>
          <p:cNvSpPr txBox="1"/>
          <p:nvPr/>
        </p:nvSpPr>
        <p:spPr>
          <a:xfrm>
            <a:off x="609600" y="6134100"/>
            <a:ext cx="10972800" cy="304800"/>
          </a:xfrm>
          <a:prstGeom prst="rect">
            <a:avLst/>
          </a:prstGeom>
          <a:noFill/>
        </p:spPr>
        <p:txBody>
          <a:bodyPr vert="horz" wrap="square" lIns="0" tIns="0" rIns="0" bIns="0" rtlCol="0">
            <a:noAutofit/>
          </a:bodyPr>
          <a:lstStyle/>
          <a:p>
            <a:pPr algn="l">
              <a:spcAft>
                <a:spcPts val="300"/>
              </a:spcAft>
            </a:pPr>
            <a:r>
              <a:rPr lang="en-US" sz="1050">
                <a:solidFill>
                  <a:srgbClr val="545460"/>
                </a:solidFill>
                <a:latin typeface="Segoe UI" panose="020B0502040204020203" pitchFamily="34" charset="0"/>
              </a:rPr>
              <a:t>Memory is demo-scoped; prompts are not enforcement. Background delegation is optional and not enabled here.</a:t>
            </a:r>
            <a:endParaRPr lang="en-US" sz="1050" dirty="0" err="1">
              <a:solidFill>
                <a:srgbClr val="545460"/>
              </a:solidFill>
              <a:latin typeface="Segoe UI" panose="020B0502040204020203" pitchFamily="34" charset="0"/>
            </a:endParaRPr>
          </a:p>
        </p:txBody>
      </p:sp>
      <p:sp>
        <p:nvSpPr>
          <p:cNvPr id="20" name="TextBox 19">
            <a:extLst>
              <a:ext uri="{FF2B5EF4-FFF2-40B4-BE49-F238E27FC236}">
                <a16:creationId xmlns:a16="http://schemas.microsoft.com/office/drawing/2014/main" id="{E630E0E5-D5ED-12D2-EAF1-2C7A4BBA21A6}"/>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21" name="TextBox 20">
            <a:extLst>
              <a:ext uri="{FF2B5EF4-FFF2-40B4-BE49-F238E27FC236}">
                <a16:creationId xmlns:a16="http://schemas.microsoft.com/office/drawing/2014/main" id="{F3CE7236-53B0-300B-5A7A-FE96755C5C2D}"/>
              </a:ext>
            </a:extLst>
          </p:cNvPr>
          <p:cNvSpPr txBox="1"/>
          <p:nvPr/>
        </p:nvSpPr>
        <p:spPr>
          <a:xfrm>
            <a:off x="6007100" y="6489700"/>
            <a:ext cx="5003800" cy="266700"/>
          </a:xfrm>
          <a:prstGeom prst="rect">
            <a:avLst/>
          </a:prstGeom>
          <a:noFill/>
        </p:spPr>
        <p:txBody>
          <a:bodyPr vert="horz" wrap="square" lIns="0" tIns="0" rIns="0" bIns="0" rtlCol="0">
            <a:noAutofit/>
          </a:bodyPr>
          <a:lstStyle/>
          <a:p>
            <a:pPr algn="l">
              <a:spcAft>
                <a:spcPts val="300"/>
              </a:spcAft>
            </a:pPr>
            <a:r>
              <a:rPr lang="en-US" sz="1000">
                <a:solidFill>
                  <a:srgbClr val="0078D4"/>
                </a:solidFill>
                <a:latin typeface="Segoe UI" panose="020B0502040204020203" pitchFamily="34" charset="0"/>
              </a:rPr>
              <a:t>agent_harness_webiq_mcp.py</a:t>
            </a:r>
            <a:endParaRPr lang="en-US" sz="1000" dirty="0" err="1">
              <a:solidFill>
                <a:srgbClr val="0078D4"/>
              </a:solidFill>
              <a:latin typeface="Segoe UI" panose="020B0502040204020203" pitchFamily="34" charset="0"/>
            </a:endParaRPr>
          </a:p>
        </p:txBody>
      </p:sp>
      <p:sp>
        <p:nvSpPr>
          <p:cNvPr id="22" name="SlideNumber">
            <a:extLst>
              <a:ext uri="{FF2B5EF4-FFF2-40B4-BE49-F238E27FC236}">
                <a16:creationId xmlns:a16="http://schemas.microsoft.com/office/drawing/2014/main" id="{73A65E7F-F0C2-8FF6-9403-0EA5B25004BE}"/>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07</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37157106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101133-0301-120E-EB6D-50F6DDB0BBCA}"/>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05  |  Expose an agent over A2A</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35B03E24-E2FA-4CF7-9471-30FB235A22E9}"/>
              </a:ext>
            </a:extLst>
          </p:cNvPr>
          <p:cNvSpPr txBox="1"/>
          <p:nvPr/>
        </p:nvSpPr>
        <p:spPr>
          <a:xfrm>
            <a:off x="609600" y="1193799"/>
            <a:ext cx="10985500" cy="584200"/>
          </a:xfrm>
          <a:prstGeom prst="rect">
            <a:avLst/>
          </a:prstGeom>
          <a:noFill/>
        </p:spPr>
        <p:txBody>
          <a:bodyPr vert="horz" wrap="square" lIns="0" tIns="0" rIns="0" bIns="0" rtlCol="0">
            <a:noAutofit/>
          </a:bodyPr>
          <a:lstStyle/>
          <a:p>
            <a:pPr algn="l">
              <a:spcAft>
                <a:spcPts val="300"/>
              </a:spcAft>
            </a:pPr>
            <a:r>
              <a:rPr lang="en-US" sz="1700">
                <a:solidFill>
                  <a:srgbClr val="545460"/>
                </a:solidFill>
                <a:latin typeface="Segoe UI" panose="020B0502040204020203" pitchFamily="34" charset="0"/>
              </a:rPr>
              <a:t>Wrap the same agent in an A2A server. Any A2A client can discover and call it.</a:t>
            </a:r>
            <a:endParaRPr lang="en-US" sz="1700" dirty="0" err="1">
              <a:solidFill>
                <a:srgbClr val="545460"/>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78D434AC-0F45-51A5-68DD-D5FB63855B3F}"/>
              </a:ext>
            </a:extLst>
          </p:cNvPr>
          <p:cNvSpPr/>
          <p:nvPr/>
        </p:nvSpPr>
        <p:spPr bwMode="auto">
          <a:xfrm>
            <a:off x="584200" y="2044700"/>
            <a:ext cx="3467100" cy="18796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06A24CEB-DA8F-6425-D562-25AD15C10845}"/>
              </a:ext>
            </a:extLst>
          </p:cNvPr>
          <p:cNvSpPr txBox="1"/>
          <p:nvPr/>
        </p:nvSpPr>
        <p:spPr>
          <a:xfrm>
            <a:off x="787400" y="2184399"/>
            <a:ext cx="3060700" cy="3810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Agent + history</a:t>
            </a:r>
            <a:endParaRPr lang="en-US" b="1" dirty="0" err="1">
              <a:solidFill>
                <a:srgbClr val="0078D4"/>
              </a:solidFill>
              <a:latin typeface="Segoe UI" panose="020B0502040204020203" pitchFamily="34" charset="0"/>
            </a:endParaRPr>
          </a:p>
        </p:txBody>
      </p:sp>
      <p:sp>
        <p:nvSpPr>
          <p:cNvPr id="6" name="TextBox 5">
            <a:extLst>
              <a:ext uri="{FF2B5EF4-FFF2-40B4-BE49-F238E27FC236}">
                <a16:creationId xmlns:a16="http://schemas.microsoft.com/office/drawing/2014/main" id="{F918A842-FCDA-2774-BF87-2BA5FDC6EFF1}"/>
              </a:ext>
            </a:extLst>
          </p:cNvPr>
          <p:cNvSpPr txBox="1"/>
          <p:nvPr/>
        </p:nvSpPr>
        <p:spPr>
          <a:xfrm>
            <a:off x="787400" y="2603499"/>
            <a:ext cx="3060700" cy="12065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Same Agent; FileHistoryProvider keeps turns per A2A context_id.</a:t>
            </a:r>
            <a:endParaRPr lang="en-US" sz="1500" dirty="0" err="1">
              <a:solidFill>
                <a:srgbClr val="20202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AF2DEDFC-D004-6312-FC36-CC7D106C2FCE}"/>
              </a:ext>
            </a:extLst>
          </p:cNvPr>
          <p:cNvSpPr/>
          <p:nvPr/>
        </p:nvSpPr>
        <p:spPr bwMode="auto">
          <a:xfrm>
            <a:off x="4356100" y="2044700"/>
            <a:ext cx="3467100" cy="18796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4027A800-0B90-55C8-9BC8-166CDFD0550C}"/>
              </a:ext>
            </a:extLst>
          </p:cNvPr>
          <p:cNvSpPr txBox="1"/>
          <p:nvPr/>
        </p:nvSpPr>
        <p:spPr>
          <a:xfrm>
            <a:off x="4559300" y="2184399"/>
            <a:ext cx="3060700"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A2A server</a:t>
            </a:r>
            <a:endParaRPr lang="en-US" b="1" dirty="0" err="1">
              <a:solidFill>
                <a:srgbClr val="8055C8"/>
              </a:solidFill>
              <a:latin typeface="Segoe UI" panose="020B0502040204020203" pitchFamily="34" charset="0"/>
            </a:endParaRPr>
          </a:p>
        </p:txBody>
      </p:sp>
      <p:sp>
        <p:nvSpPr>
          <p:cNvPr id="9" name="TextBox 8">
            <a:extLst>
              <a:ext uri="{FF2B5EF4-FFF2-40B4-BE49-F238E27FC236}">
                <a16:creationId xmlns:a16="http://schemas.microsoft.com/office/drawing/2014/main" id="{FB1640CE-8DAA-2B86-D001-385FE6B23419}"/>
              </a:ext>
            </a:extLst>
          </p:cNvPr>
          <p:cNvSpPr txBox="1"/>
          <p:nvPr/>
        </p:nvSpPr>
        <p:spPr>
          <a:xfrm>
            <a:off x="4559300" y="2603499"/>
            <a:ext cx="3060700" cy="12065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A2AExecutor serves JSON-RPC and publishes the agent card.</a:t>
            </a:r>
            <a:endParaRPr lang="en-US" sz="1500" dirty="0" err="1">
              <a:solidFill>
                <a:srgbClr val="20202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77623A4D-0A2F-7466-F455-5A5A0346D0B7}"/>
              </a:ext>
            </a:extLst>
          </p:cNvPr>
          <p:cNvSpPr/>
          <p:nvPr/>
        </p:nvSpPr>
        <p:spPr bwMode="auto">
          <a:xfrm>
            <a:off x="8140700" y="2044700"/>
            <a:ext cx="3467100" cy="18796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8C22880B-10A6-E5E7-CF6A-37F5E5CADA8C}"/>
              </a:ext>
            </a:extLst>
          </p:cNvPr>
          <p:cNvSpPr txBox="1"/>
          <p:nvPr/>
        </p:nvSpPr>
        <p:spPr>
          <a:xfrm>
            <a:off x="8343900" y="2184399"/>
            <a:ext cx="3060700" cy="381000"/>
          </a:xfrm>
          <a:prstGeom prst="rect">
            <a:avLst/>
          </a:prstGeom>
          <a:noFill/>
        </p:spPr>
        <p:txBody>
          <a:bodyPr vert="horz" wrap="square" lIns="0" tIns="0" rIns="0" bIns="0" rtlCol="0">
            <a:noAutofit/>
          </a:bodyPr>
          <a:lstStyle/>
          <a:p>
            <a:pPr algn="l">
              <a:spcAft>
                <a:spcPts val="300"/>
              </a:spcAft>
            </a:pPr>
            <a:r>
              <a:rPr lang="en-US" b="1">
                <a:solidFill>
                  <a:srgbClr val="008F99"/>
                </a:solidFill>
                <a:latin typeface="Segoe UI" panose="020B0502040204020203" pitchFamily="34" charset="0"/>
              </a:rPr>
              <a:t>Remote caller</a:t>
            </a:r>
            <a:endParaRPr lang="en-US" b="1" dirty="0" err="1">
              <a:solidFill>
                <a:srgbClr val="008F99"/>
              </a:solidFill>
              <a:latin typeface="Segoe UI" panose="020B0502040204020203" pitchFamily="34" charset="0"/>
            </a:endParaRPr>
          </a:p>
        </p:txBody>
      </p:sp>
      <p:sp>
        <p:nvSpPr>
          <p:cNvPr id="12" name="TextBox 11">
            <a:extLst>
              <a:ext uri="{FF2B5EF4-FFF2-40B4-BE49-F238E27FC236}">
                <a16:creationId xmlns:a16="http://schemas.microsoft.com/office/drawing/2014/main" id="{A9A4CCBB-6F76-DE5D-D3A9-30816EF9F981}"/>
              </a:ext>
            </a:extLst>
          </p:cNvPr>
          <p:cNvSpPr txBox="1"/>
          <p:nvPr/>
        </p:nvSpPr>
        <p:spPr>
          <a:xfrm>
            <a:off x="8343900" y="2603499"/>
            <a:ext cx="3060700" cy="12065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A2AAgent reads the card, then calls the agent like a local one.</a:t>
            </a:r>
            <a:endParaRPr lang="en-US" sz="1500" dirty="0" err="1">
              <a:solidFill>
                <a:srgbClr val="202020"/>
              </a:solidFill>
              <a:latin typeface="Segoe UI" panose="020B0502040204020203" pitchFamily="34" charset="0"/>
            </a:endParaRPr>
          </a:p>
        </p:txBody>
      </p:sp>
      <p:cxnSp>
        <p:nvCxnSpPr>
          <p:cNvPr id="13" name="Straight Connector 12">
            <a:extLst>
              <a:ext uri="{FF2B5EF4-FFF2-40B4-BE49-F238E27FC236}">
                <a16:creationId xmlns:a16="http://schemas.microsoft.com/office/drawing/2014/main" id="{53C6EA08-22E2-B1AF-2C64-6B3E4F18D68C}"/>
              </a:ext>
            </a:extLst>
          </p:cNvPr>
          <p:cNvCxnSpPr/>
          <p:nvPr/>
        </p:nvCxnSpPr>
        <p:spPr>
          <a:xfrm>
            <a:off x="4064000" y="2984500"/>
            <a:ext cx="266700" cy="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1BC007F-1C55-C034-F88B-21651D9A1A40}"/>
              </a:ext>
            </a:extLst>
          </p:cNvPr>
          <p:cNvCxnSpPr/>
          <p:nvPr/>
        </p:nvCxnSpPr>
        <p:spPr>
          <a:xfrm flipH="1">
            <a:off x="7835900" y="2984500"/>
            <a:ext cx="279400" cy="0"/>
          </a:xfrm>
          <a:prstGeom prst="line">
            <a:avLst/>
          </a:prstGeom>
          <a:ln w="22860">
            <a:solidFill>
              <a:srgbClr val="8055C8"/>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5D2D5D75-53AF-C0C0-07BC-30F618287A3B}"/>
              </a:ext>
            </a:extLst>
          </p:cNvPr>
          <p:cNvSpPr/>
          <p:nvPr/>
        </p:nvSpPr>
        <p:spPr bwMode="auto">
          <a:xfrm>
            <a:off x="584200" y="4292600"/>
            <a:ext cx="11023600" cy="812800"/>
          </a:xfrm>
          <a:prstGeom prst="roundRect">
            <a:avLst>
              <a:gd name="adj" fmla="val 12000"/>
            </a:avLst>
          </a:prstGeom>
          <a:solidFill>
            <a:srgbClr val="202633"/>
          </a:solidFill>
          <a:ln w="10160">
            <a:solidFill>
              <a:srgbClr val="20263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TextBox 15">
            <a:extLst>
              <a:ext uri="{FF2B5EF4-FFF2-40B4-BE49-F238E27FC236}">
                <a16:creationId xmlns:a16="http://schemas.microsoft.com/office/drawing/2014/main" id="{C2438849-E135-6D8D-6D89-68BF58C8DA58}"/>
              </a:ext>
            </a:extLst>
          </p:cNvPr>
          <p:cNvSpPr txBox="1"/>
          <p:nvPr/>
        </p:nvSpPr>
        <p:spPr>
          <a:xfrm>
            <a:off x="863600" y="4533899"/>
            <a:ext cx="10439400" cy="431800"/>
          </a:xfrm>
          <a:prstGeom prst="rect">
            <a:avLst/>
          </a:prstGeom>
          <a:noFill/>
        </p:spPr>
        <p:txBody>
          <a:bodyPr vert="horz" wrap="square" lIns="0" tIns="0" rIns="0" bIns="0" rtlCol="0">
            <a:noAutofit/>
          </a:bodyPr>
          <a:lstStyle/>
          <a:p>
            <a:pPr algn="l">
              <a:spcAft>
                <a:spcPts val="300"/>
              </a:spcAft>
            </a:pPr>
            <a:r>
              <a:rPr lang="en-US" sz="2300">
                <a:solidFill>
                  <a:srgbClr val="FFFFFF"/>
                </a:solidFill>
                <a:latin typeface="Consolas" panose="020B0609020204030204" pitchFamily="49" charset="0"/>
              </a:rPr>
              <a:t>A2AExecutor(agent, stream=True)</a:t>
            </a:r>
            <a:endParaRPr lang="en-US" sz="2300" dirty="0" err="1">
              <a:solidFill>
                <a:srgbClr val="FFFFFF"/>
              </a:solidFill>
              <a:latin typeface="Consolas" panose="020B0609020204030204" pitchFamily="49" charset="0"/>
            </a:endParaRPr>
          </a:p>
        </p:txBody>
      </p:sp>
      <p:sp>
        <p:nvSpPr>
          <p:cNvPr id="17" name="Rectangle: Rounded Corners 16">
            <a:extLst>
              <a:ext uri="{FF2B5EF4-FFF2-40B4-BE49-F238E27FC236}">
                <a16:creationId xmlns:a16="http://schemas.microsoft.com/office/drawing/2014/main" id="{5F41CE31-D9C0-F32B-46F3-8F06803669E2}"/>
              </a:ext>
            </a:extLst>
          </p:cNvPr>
          <p:cNvSpPr/>
          <p:nvPr/>
        </p:nvSpPr>
        <p:spPr bwMode="auto">
          <a:xfrm>
            <a:off x="584200" y="5524500"/>
            <a:ext cx="11023600" cy="546100"/>
          </a:xfrm>
          <a:prstGeom prst="roundRect">
            <a:avLst>
              <a:gd name="adj" fmla="val 12000"/>
            </a:avLst>
          </a:prstGeom>
          <a:solidFill>
            <a:srgbClr val="E4F2FA"/>
          </a:solidFill>
          <a:ln w="10160">
            <a:solidFill>
              <a:srgbClr val="E4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5AC0812C-0C54-9682-BCD7-62EC48E0403B}"/>
              </a:ext>
            </a:extLst>
          </p:cNvPr>
          <p:cNvSpPr txBox="1"/>
          <p:nvPr/>
        </p:nvSpPr>
        <p:spPr>
          <a:xfrm>
            <a:off x="762000" y="5651500"/>
            <a:ext cx="10668000" cy="317500"/>
          </a:xfrm>
          <a:prstGeom prst="rect">
            <a:avLst/>
          </a:prstGeom>
          <a:noFill/>
        </p:spPr>
        <p:txBody>
          <a:bodyPr vert="horz" wrap="square" lIns="0" tIns="0" rIns="0" bIns="0" rtlCol="0">
            <a:noAutofit/>
          </a:bodyPr>
          <a:lstStyle/>
          <a:p>
            <a:pPr algn="l">
              <a:spcAft>
                <a:spcPts val="300"/>
              </a:spcAft>
            </a:pPr>
            <a:r>
              <a:rPr lang="en-US" sz="1600" b="1">
                <a:solidFill>
                  <a:srgbClr val="0078D4"/>
                </a:solidFill>
                <a:latin typeface="Segoe UI" panose="020B0502040204020203" pitchFamily="34" charset="0"/>
              </a:rPr>
              <a:t>Application opportunity: other teams’ A2A agents can discover and call yours.</a:t>
            </a:r>
            <a:endParaRPr lang="en-US" sz="1600" b="1" dirty="0" err="1">
              <a:solidFill>
                <a:srgbClr val="0078D4"/>
              </a:solidFill>
              <a:latin typeface="Segoe UI" panose="020B0502040204020203" pitchFamily="34" charset="0"/>
            </a:endParaRPr>
          </a:p>
        </p:txBody>
      </p:sp>
      <p:sp>
        <p:nvSpPr>
          <p:cNvPr id="19" name="TextBox 18">
            <a:extLst>
              <a:ext uri="{FF2B5EF4-FFF2-40B4-BE49-F238E27FC236}">
                <a16:creationId xmlns:a16="http://schemas.microsoft.com/office/drawing/2014/main" id="{3EB0FDE3-E36A-4A11-E0CE-45FD9FB6E4A2}"/>
              </a:ext>
            </a:extLst>
          </p:cNvPr>
          <p:cNvSpPr txBox="1"/>
          <p:nvPr/>
        </p:nvSpPr>
        <p:spPr>
          <a:xfrm>
            <a:off x="609600" y="6134100"/>
            <a:ext cx="10972800" cy="304800"/>
          </a:xfrm>
          <a:prstGeom prst="rect">
            <a:avLst/>
          </a:prstGeom>
          <a:noFill/>
        </p:spPr>
        <p:txBody>
          <a:bodyPr vert="horz" wrap="square" lIns="0" tIns="0" rIns="0" bIns="0" rtlCol="0">
            <a:noAutofit/>
          </a:bodyPr>
          <a:lstStyle/>
          <a:p>
            <a:pPr algn="l">
              <a:spcAft>
                <a:spcPts val="300"/>
              </a:spcAft>
            </a:pPr>
            <a:r>
              <a:rPr lang="en-US" sz="1050">
                <a:solidFill>
                  <a:srgbClr val="545460"/>
                </a:solidFill>
                <a:latin typeface="Segoe UI" panose="020B0502040204020203" pitchFamily="34" charset="0"/>
              </a:rPr>
              <a:t>Local demo: no authentication, in-memory task store, caller-supplied context_id. Production needs auth and identity-bound history.</a:t>
            </a:r>
            <a:endParaRPr lang="en-US" sz="1050" dirty="0" err="1">
              <a:solidFill>
                <a:srgbClr val="545460"/>
              </a:solidFill>
              <a:latin typeface="Segoe UI" panose="020B0502040204020203" pitchFamily="34" charset="0"/>
            </a:endParaRPr>
          </a:p>
        </p:txBody>
      </p:sp>
      <p:sp>
        <p:nvSpPr>
          <p:cNvPr id="20" name="TextBox 19">
            <a:extLst>
              <a:ext uri="{FF2B5EF4-FFF2-40B4-BE49-F238E27FC236}">
                <a16:creationId xmlns:a16="http://schemas.microsoft.com/office/drawing/2014/main" id="{F549B5CF-B257-8CDC-58F2-01289DFDDA40}"/>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21" name="TextBox 20">
            <a:extLst>
              <a:ext uri="{FF2B5EF4-FFF2-40B4-BE49-F238E27FC236}">
                <a16:creationId xmlns:a16="http://schemas.microsoft.com/office/drawing/2014/main" id="{B0AD70DA-ADD1-F462-E0C5-3D84F5E2306B}"/>
              </a:ext>
            </a:extLst>
          </p:cNvPr>
          <p:cNvSpPr txBox="1"/>
          <p:nvPr/>
        </p:nvSpPr>
        <p:spPr>
          <a:xfrm>
            <a:off x="6007100" y="6489700"/>
            <a:ext cx="5003800" cy="266700"/>
          </a:xfrm>
          <a:prstGeom prst="rect">
            <a:avLst/>
          </a:prstGeom>
          <a:noFill/>
        </p:spPr>
        <p:txBody>
          <a:bodyPr vert="horz" wrap="square" lIns="0" tIns="0" rIns="0" bIns="0" rtlCol="0">
            <a:noAutofit/>
          </a:bodyPr>
          <a:lstStyle/>
          <a:p>
            <a:pPr algn="l">
              <a:spcAft>
                <a:spcPts val="300"/>
              </a:spcAft>
            </a:pPr>
            <a:r>
              <a:rPr lang="en-US" sz="1000">
                <a:solidFill>
                  <a:srgbClr val="0078D4"/>
                </a:solidFill>
                <a:latin typeface="Segoe UI" panose="020B0502040204020203" pitchFamily="34" charset="0"/>
              </a:rPr>
              <a:t>a2a_server.py  |  a2a_client.py</a:t>
            </a:r>
            <a:endParaRPr lang="en-US" sz="1000" dirty="0" err="1">
              <a:solidFill>
                <a:srgbClr val="0078D4"/>
              </a:solidFill>
              <a:latin typeface="Segoe UI" panose="020B0502040204020203" pitchFamily="34" charset="0"/>
            </a:endParaRPr>
          </a:p>
        </p:txBody>
      </p:sp>
      <p:sp>
        <p:nvSpPr>
          <p:cNvPr id="22" name="SlideNumber">
            <a:extLst>
              <a:ext uri="{FF2B5EF4-FFF2-40B4-BE49-F238E27FC236}">
                <a16:creationId xmlns:a16="http://schemas.microsoft.com/office/drawing/2014/main" id="{26FE9E1A-2694-5E07-2A39-611E2C2E3DB4}"/>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08</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20933176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F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F44775-FE92-1E0A-CFA7-8B69A2FD9B64}"/>
              </a:ext>
            </a:extLst>
          </p:cNvPr>
          <p:cNvSpPr txBox="1"/>
          <p:nvPr/>
        </p:nvSpPr>
        <p:spPr>
          <a:xfrm>
            <a:off x="584200" y="380999"/>
            <a:ext cx="11049000" cy="647700"/>
          </a:xfrm>
          <a:prstGeom prst="rect">
            <a:avLst/>
          </a:prstGeom>
          <a:noFill/>
        </p:spPr>
        <p:txBody>
          <a:bodyPr vert="horz" wrap="square" lIns="0" tIns="0" rIns="0" bIns="0" rtlCol="0">
            <a:noAutofit/>
          </a:bodyPr>
          <a:lstStyle/>
          <a:p>
            <a:pPr algn="l">
              <a:spcAft>
                <a:spcPts val="300"/>
              </a:spcAft>
            </a:pPr>
            <a:r>
              <a:rPr lang="en-US" sz="3200" b="1">
                <a:solidFill>
                  <a:srgbClr val="0078D4"/>
                </a:solidFill>
                <a:latin typeface="Segoe UI" panose="020B0502040204020203" pitchFamily="34" charset="0"/>
              </a:rPr>
              <a:t>Beyond the demos</a:t>
            </a:r>
            <a:endParaRPr lang="en-US" sz="3200" b="1" dirty="0" err="1">
              <a:solidFill>
                <a:srgbClr val="0078D4"/>
              </a:solidFill>
              <a:latin typeface="Segoe UI" panose="020B0502040204020203" pitchFamily="34" charset="0"/>
            </a:endParaRPr>
          </a:p>
        </p:txBody>
      </p:sp>
      <p:sp>
        <p:nvSpPr>
          <p:cNvPr id="3" name="TextBox 2">
            <a:extLst>
              <a:ext uri="{FF2B5EF4-FFF2-40B4-BE49-F238E27FC236}">
                <a16:creationId xmlns:a16="http://schemas.microsoft.com/office/drawing/2014/main" id="{724D24DF-8CA4-EFE6-3017-86157F9CAAB6}"/>
              </a:ext>
            </a:extLst>
          </p:cNvPr>
          <p:cNvSpPr txBox="1"/>
          <p:nvPr/>
        </p:nvSpPr>
        <p:spPr>
          <a:xfrm>
            <a:off x="609600" y="1193799"/>
            <a:ext cx="10985500" cy="584200"/>
          </a:xfrm>
          <a:prstGeom prst="rect">
            <a:avLst/>
          </a:prstGeom>
          <a:noFill/>
        </p:spPr>
        <p:txBody>
          <a:bodyPr vert="horz" wrap="square" lIns="0" tIns="0" rIns="0" bIns="0" rtlCol="0">
            <a:noAutofit/>
          </a:bodyPr>
          <a:lstStyle/>
          <a:p>
            <a:pPr algn="l">
              <a:spcAft>
                <a:spcPts val="300"/>
              </a:spcAft>
            </a:pPr>
            <a:r>
              <a:rPr lang="en-US" sz="1700">
                <a:solidFill>
                  <a:srgbClr val="545460"/>
                </a:solidFill>
                <a:latin typeface="Segoe UI" panose="020B0502040204020203" pitchFamily="34" charset="0"/>
              </a:rPr>
              <a:t>More of Agent Framework to build on as your agents grow.</a:t>
            </a:r>
            <a:endParaRPr lang="en-US" sz="1700" dirty="0" err="1">
              <a:solidFill>
                <a:srgbClr val="545460"/>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549ABE1E-61D1-1AA3-E4D7-954A1679328B}"/>
              </a:ext>
            </a:extLst>
          </p:cNvPr>
          <p:cNvSpPr/>
          <p:nvPr/>
        </p:nvSpPr>
        <p:spPr bwMode="auto">
          <a:xfrm>
            <a:off x="584200" y="19177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TextBox 4">
            <a:extLst>
              <a:ext uri="{FF2B5EF4-FFF2-40B4-BE49-F238E27FC236}">
                <a16:creationId xmlns:a16="http://schemas.microsoft.com/office/drawing/2014/main" id="{2FAA1914-06D1-B056-2F82-9AF5553AF945}"/>
              </a:ext>
            </a:extLst>
          </p:cNvPr>
          <p:cNvSpPr txBox="1"/>
          <p:nvPr/>
        </p:nvSpPr>
        <p:spPr>
          <a:xfrm>
            <a:off x="787400" y="2057399"/>
            <a:ext cx="3060700" cy="3810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MCP servers</a:t>
            </a:r>
            <a:endParaRPr lang="en-US" b="1" dirty="0" err="1">
              <a:solidFill>
                <a:srgbClr val="0078D4"/>
              </a:solidFill>
              <a:latin typeface="Segoe UI" panose="020B0502040204020203" pitchFamily="34" charset="0"/>
            </a:endParaRPr>
          </a:p>
        </p:txBody>
      </p:sp>
      <p:sp>
        <p:nvSpPr>
          <p:cNvPr id="6" name="TextBox 5">
            <a:extLst>
              <a:ext uri="{FF2B5EF4-FFF2-40B4-BE49-F238E27FC236}">
                <a16:creationId xmlns:a16="http://schemas.microsoft.com/office/drawing/2014/main" id="{8C22C04C-44D7-DEBA-0BA5-076DDDD95BF4}"/>
              </a:ext>
            </a:extLst>
          </p:cNvPr>
          <p:cNvSpPr txBox="1"/>
          <p:nvPr/>
        </p:nvSpPr>
        <p:spPr>
          <a:xfrm>
            <a:off x="787400" y="24764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Use stdio, HTTP, or WebSocket MCP servers as tools.</a:t>
            </a:r>
          </a:p>
          <a:p>
            <a:pPr algn="l">
              <a:spcAft>
                <a:spcPts val="300"/>
              </a:spcAft>
            </a:pPr>
            <a:r>
              <a:rPr lang="en-US" sz="1500">
                <a:solidFill>
                  <a:srgbClr val="202020"/>
                </a:solidFill>
                <a:latin typeface="Segoe UI" panose="020B0502040204020203" pitchFamily="34" charset="0"/>
              </a:rPr>
              <a:t>Expose any agent as an MCP server.</a:t>
            </a:r>
          </a:p>
        </p:txBody>
      </p:sp>
      <p:sp>
        <p:nvSpPr>
          <p:cNvPr id="7" name="Rectangle: Rounded Corners 6">
            <a:extLst>
              <a:ext uri="{FF2B5EF4-FFF2-40B4-BE49-F238E27FC236}">
                <a16:creationId xmlns:a16="http://schemas.microsoft.com/office/drawing/2014/main" id="{C2D46D75-5417-E163-30E9-971E0C90A98A}"/>
              </a:ext>
            </a:extLst>
          </p:cNvPr>
          <p:cNvSpPr/>
          <p:nvPr/>
        </p:nvSpPr>
        <p:spPr bwMode="auto">
          <a:xfrm>
            <a:off x="4356100" y="19177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8" name="TextBox 7">
            <a:extLst>
              <a:ext uri="{FF2B5EF4-FFF2-40B4-BE49-F238E27FC236}">
                <a16:creationId xmlns:a16="http://schemas.microsoft.com/office/drawing/2014/main" id="{E5941185-49AA-ED11-6944-377752B2A836}"/>
              </a:ext>
            </a:extLst>
          </p:cNvPr>
          <p:cNvSpPr txBox="1"/>
          <p:nvPr/>
        </p:nvSpPr>
        <p:spPr>
          <a:xfrm>
            <a:off x="4559300" y="2057399"/>
            <a:ext cx="3060700"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A2A authentication</a:t>
            </a:r>
            <a:endParaRPr lang="en-US" b="1" dirty="0" err="1">
              <a:solidFill>
                <a:srgbClr val="8055C8"/>
              </a:solidFill>
              <a:latin typeface="Segoe UI" panose="020B0502040204020203" pitchFamily="34" charset="0"/>
            </a:endParaRPr>
          </a:p>
        </p:txBody>
      </p:sp>
      <p:sp>
        <p:nvSpPr>
          <p:cNvPr id="9" name="TextBox 8">
            <a:extLst>
              <a:ext uri="{FF2B5EF4-FFF2-40B4-BE49-F238E27FC236}">
                <a16:creationId xmlns:a16="http://schemas.microsoft.com/office/drawing/2014/main" id="{7B1F2740-AF59-EAD1-62E7-CB692F35102F}"/>
              </a:ext>
            </a:extLst>
          </p:cNvPr>
          <p:cNvSpPr txBox="1"/>
          <p:nvPr/>
        </p:nvSpPr>
        <p:spPr>
          <a:xfrm>
            <a:off x="4559300" y="24764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Agent cards declare auth schemes.</a:t>
            </a:r>
          </a:p>
          <a:p>
            <a:pPr algn="l">
              <a:spcAft>
                <a:spcPts val="300"/>
              </a:spcAft>
            </a:pPr>
            <a:r>
              <a:rPr lang="en-US" sz="1500">
                <a:solidFill>
                  <a:srgbClr val="202020"/>
                </a:solidFill>
                <a:latin typeface="Segoe UI" panose="020B0502040204020203" pitchFamily="34" charset="0"/>
              </a:rPr>
              <a:t>A2AAgent sends credentials via an auth interceptor.</a:t>
            </a:r>
          </a:p>
        </p:txBody>
      </p:sp>
      <p:sp>
        <p:nvSpPr>
          <p:cNvPr id="10" name="Rectangle: Rounded Corners 9">
            <a:extLst>
              <a:ext uri="{FF2B5EF4-FFF2-40B4-BE49-F238E27FC236}">
                <a16:creationId xmlns:a16="http://schemas.microsoft.com/office/drawing/2014/main" id="{363629A4-5673-A5C3-07E1-B01B787E990C}"/>
              </a:ext>
            </a:extLst>
          </p:cNvPr>
          <p:cNvSpPr/>
          <p:nvPr/>
        </p:nvSpPr>
        <p:spPr bwMode="auto">
          <a:xfrm>
            <a:off x="8140700" y="19177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E8FBC891-AB33-FE89-DAD1-F5E0045DEC6A}"/>
              </a:ext>
            </a:extLst>
          </p:cNvPr>
          <p:cNvSpPr txBox="1"/>
          <p:nvPr/>
        </p:nvSpPr>
        <p:spPr>
          <a:xfrm>
            <a:off x="8343900" y="2057399"/>
            <a:ext cx="3060700" cy="381000"/>
          </a:xfrm>
          <a:prstGeom prst="rect">
            <a:avLst/>
          </a:prstGeom>
          <a:noFill/>
        </p:spPr>
        <p:txBody>
          <a:bodyPr vert="horz" wrap="square" lIns="0" tIns="0" rIns="0" bIns="0" rtlCol="0">
            <a:noAutofit/>
          </a:bodyPr>
          <a:lstStyle/>
          <a:p>
            <a:pPr algn="l">
              <a:spcAft>
                <a:spcPts val="300"/>
              </a:spcAft>
            </a:pPr>
            <a:r>
              <a:rPr lang="en-US" b="1">
                <a:solidFill>
                  <a:srgbClr val="008F99"/>
                </a:solidFill>
                <a:latin typeface="Segoe UI" panose="020B0502040204020203" pitchFamily="34" charset="0"/>
              </a:rPr>
              <a:t>Orchestration patterns</a:t>
            </a:r>
            <a:endParaRPr lang="en-US" b="1" dirty="0" err="1">
              <a:solidFill>
                <a:srgbClr val="008F99"/>
              </a:solidFill>
              <a:latin typeface="Segoe UI" panose="020B0502040204020203" pitchFamily="34" charset="0"/>
            </a:endParaRPr>
          </a:p>
        </p:txBody>
      </p:sp>
      <p:sp>
        <p:nvSpPr>
          <p:cNvPr id="12" name="TextBox 11">
            <a:extLst>
              <a:ext uri="{FF2B5EF4-FFF2-40B4-BE49-F238E27FC236}">
                <a16:creationId xmlns:a16="http://schemas.microsoft.com/office/drawing/2014/main" id="{81B57D10-B728-D8A2-B2ED-98139DDEEFFE}"/>
              </a:ext>
            </a:extLst>
          </p:cNvPr>
          <p:cNvSpPr txBox="1"/>
          <p:nvPr/>
        </p:nvSpPr>
        <p:spPr>
          <a:xfrm>
            <a:off x="8343900" y="24764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Sequential, concurrent, handoff, group chat, Magentic.</a:t>
            </a:r>
          </a:p>
          <a:p>
            <a:pPr algn="l">
              <a:spcAft>
                <a:spcPts val="300"/>
              </a:spcAft>
            </a:pPr>
            <a:r>
              <a:rPr lang="en-US" sz="1500">
                <a:solidFill>
                  <a:srgbClr val="202020"/>
                </a:solidFill>
                <a:latin typeface="Segoe UI" panose="020B0502040204020203" pitchFamily="34" charset="0"/>
              </a:rPr>
              <a:t>Or build a custom workflow graph.</a:t>
            </a:r>
          </a:p>
        </p:txBody>
      </p:sp>
      <p:sp>
        <p:nvSpPr>
          <p:cNvPr id="13" name="Rectangle: Rounded Corners 12">
            <a:extLst>
              <a:ext uri="{FF2B5EF4-FFF2-40B4-BE49-F238E27FC236}">
                <a16:creationId xmlns:a16="http://schemas.microsoft.com/office/drawing/2014/main" id="{C6110873-9C31-DD4C-3699-374BADEDC459}"/>
              </a:ext>
            </a:extLst>
          </p:cNvPr>
          <p:cNvSpPr/>
          <p:nvPr/>
        </p:nvSpPr>
        <p:spPr bwMode="auto">
          <a:xfrm>
            <a:off x="584200" y="37211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6D85CC72-B184-2F78-D9FC-32C80EF24F8B}"/>
              </a:ext>
            </a:extLst>
          </p:cNvPr>
          <p:cNvSpPr txBox="1"/>
          <p:nvPr/>
        </p:nvSpPr>
        <p:spPr>
          <a:xfrm>
            <a:off x="787400" y="3860799"/>
            <a:ext cx="3060700" cy="381000"/>
          </a:xfrm>
          <a:prstGeom prst="rect">
            <a:avLst/>
          </a:prstGeom>
          <a:noFill/>
        </p:spPr>
        <p:txBody>
          <a:bodyPr vert="horz" wrap="square" lIns="0" tIns="0" rIns="0" bIns="0" rtlCol="0">
            <a:noAutofit/>
          </a:bodyPr>
          <a:lstStyle/>
          <a:p>
            <a:pPr algn="l">
              <a:spcAft>
                <a:spcPts val="300"/>
              </a:spcAft>
            </a:pPr>
            <a:r>
              <a:rPr lang="en-US" b="1">
                <a:solidFill>
                  <a:srgbClr val="0078D4"/>
                </a:solidFill>
                <a:latin typeface="Segoe UI" panose="020B0502040204020203" pitchFamily="34" charset="0"/>
              </a:rPr>
              <a:t>Workflow state</a:t>
            </a:r>
            <a:endParaRPr lang="en-US" b="1" dirty="0" err="1">
              <a:solidFill>
                <a:srgbClr val="0078D4"/>
              </a:solidFill>
              <a:latin typeface="Segoe UI" panose="020B0502040204020203" pitchFamily="34" charset="0"/>
            </a:endParaRPr>
          </a:p>
        </p:txBody>
      </p:sp>
      <p:sp>
        <p:nvSpPr>
          <p:cNvPr id="15" name="TextBox 14">
            <a:extLst>
              <a:ext uri="{FF2B5EF4-FFF2-40B4-BE49-F238E27FC236}">
                <a16:creationId xmlns:a16="http://schemas.microsoft.com/office/drawing/2014/main" id="{5D2E34A1-1ADA-3651-8F27-E5472ECCB8E9}"/>
              </a:ext>
            </a:extLst>
          </p:cNvPr>
          <p:cNvSpPr txBox="1"/>
          <p:nvPr/>
        </p:nvSpPr>
        <p:spPr>
          <a:xfrm>
            <a:off x="787400" y="42798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Shared state across workflow steps.</a:t>
            </a:r>
          </a:p>
          <a:p>
            <a:pPr algn="l">
              <a:spcAft>
                <a:spcPts val="300"/>
              </a:spcAft>
            </a:pPr>
            <a:r>
              <a:rPr lang="en-US" sz="1500">
                <a:solidFill>
                  <a:srgbClr val="202020"/>
                </a:solidFill>
                <a:latin typeface="Segoe UI" panose="020B0502040204020203" pitchFamily="34" charset="0"/>
              </a:rPr>
              <a:t>Checkpoints in memory, files, or Cosmos DB.</a:t>
            </a:r>
          </a:p>
        </p:txBody>
      </p:sp>
      <p:sp>
        <p:nvSpPr>
          <p:cNvPr id="16" name="Rectangle: Rounded Corners 15">
            <a:extLst>
              <a:ext uri="{FF2B5EF4-FFF2-40B4-BE49-F238E27FC236}">
                <a16:creationId xmlns:a16="http://schemas.microsoft.com/office/drawing/2014/main" id="{3699BC85-0305-AF3B-E8D9-8EC847C88BC8}"/>
              </a:ext>
            </a:extLst>
          </p:cNvPr>
          <p:cNvSpPr/>
          <p:nvPr/>
        </p:nvSpPr>
        <p:spPr bwMode="auto">
          <a:xfrm>
            <a:off x="4356100" y="37211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7" name="TextBox 16">
            <a:extLst>
              <a:ext uri="{FF2B5EF4-FFF2-40B4-BE49-F238E27FC236}">
                <a16:creationId xmlns:a16="http://schemas.microsoft.com/office/drawing/2014/main" id="{8CF4B1AC-0011-7B77-BC19-285B7C7BA1D0}"/>
              </a:ext>
            </a:extLst>
          </p:cNvPr>
          <p:cNvSpPr txBox="1"/>
          <p:nvPr/>
        </p:nvSpPr>
        <p:spPr>
          <a:xfrm>
            <a:off x="4559300" y="3860799"/>
            <a:ext cx="3060700" cy="381000"/>
          </a:xfrm>
          <a:prstGeom prst="rect">
            <a:avLst/>
          </a:prstGeom>
          <a:noFill/>
        </p:spPr>
        <p:txBody>
          <a:bodyPr vert="horz" wrap="square" lIns="0" tIns="0" rIns="0" bIns="0" rtlCol="0">
            <a:noAutofit/>
          </a:bodyPr>
          <a:lstStyle/>
          <a:p>
            <a:pPr algn="l">
              <a:spcAft>
                <a:spcPts val="300"/>
              </a:spcAft>
            </a:pPr>
            <a:r>
              <a:rPr lang="en-US" b="1">
                <a:solidFill>
                  <a:srgbClr val="8055C8"/>
                </a:solidFill>
                <a:latin typeface="Segoe UI" panose="020B0502040204020203" pitchFamily="34" charset="0"/>
              </a:rPr>
              <a:t>Human in the loop</a:t>
            </a:r>
            <a:endParaRPr lang="en-US" b="1" dirty="0" err="1">
              <a:solidFill>
                <a:srgbClr val="8055C8"/>
              </a:solidFill>
              <a:latin typeface="Segoe UI" panose="020B0502040204020203" pitchFamily="34" charset="0"/>
            </a:endParaRPr>
          </a:p>
        </p:txBody>
      </p:sp>
      <p:sp>
        <p:nvSpPr>
          <p:cNvPr id="18" name="TextBox 17">
            <a:extLst>
              <a:ext uri="{FF2B5EF4-FFF2-40B4-BE49-F238E27FC236}">
                <a16:creationId xmlns:a16="http://schemas.microsoft.com/office/drawing/2014/main" id="{D2C22487-B384-D911-91AB-1C8D46525C3E}"/>
              </a:ext>
            </a:extLst>
          </p:cNvPr>
          <p:cNvSpPr txBox="1"/>
          <p:nvPr/>
        </p:nvSpPr>
        <p:spPr>
          <a:xfrm>
            <a:off x="4559300" y="42798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request_info pauses for a person.</a:t>
            </a:r>
          </a:p>
          <a:p>
            <a:pPr algn="l">
              <a:spcAft>
                <a:spcPts val="300"/>
              </a:spcAft>
            </a:pPr>
            <a:r>
              <a:rPr lang="en-US" sz="1500">
                <a:solidFill>
                  <a:srgbClr val="202020"/>
                </a:solidFill>
                <a:latin typeface="Segoe UI" panose="020B0502040204020203" pitchFamily="34" charset="0"/>
              </a:rPr>
              <a:t>Tool approvals; resume from checkpoints.</a:t>
            </a:r>
          </a:p>
        </p:txBody>
      </p:sp>
      <p:sp>
        <p:nvSpPr>
          <p:cNvPr id="19" name="Rectangle: Rounded Corners 18">
            <a:extLst>
              <a:ext uri="{FF2B5EF4-FFF2-40B4-BE49-F238E27FC236}">
                <a16:creationId xmlns:a16="http://schemas.microsoft.com/office/drawing/2014/main" id="{99A8A346-05CD-0B3B-62DF-31F02722A6FE}"/>
              </a:ext>
            </a:extLst>
          </p:cNvPr>
          <p:cNvSpPr/>
          <p:nvPr/>
        </p:nvSpPr>
        <p:spPr bwMode="auto">
          <a:xfrm>
            <a:off x="8140700" y="3721100"/>
            <a:ext cx="3467100" cy="1574800"/>
          </a:xfrm>
          <a:prstGeom prst="roundRect">
            <a:avLst>
              <a:gd name="adj" fmla="val 12000"/>
            </a:avLst>
          </a:prstGeom>
          <a:solidFill>
            <a:srgbClr val="FFFFFF"/>
          </a:solidFill>
          <a:ln w="10160">
            <a:solidFill>
              <a:srgbClr val="D5D5DD"/>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0" name="TextBox 19">
            <a:extLst>
              <a:ext uri="{FF2B5EF4-FFF2-40B4-BE49-F238E27FC236}">
                <a16:creationId xmlns:a16="http://schemas.microsoft.com/office/drawing/2014/main" id="{36B8E0F0-6205-9A7E-263F-C505D6F251F7}"/>
              </a:ext>
            </a:extLst>
          </p:cNvPr>
          <p:cNvSpPr txBox="1"/>
          <p:nvPr/>
        </p:nvSpPr>
        <p:spPr>
          <a:xfrm>
            <a:off x="8343900" y="3860799"/>
            <a:ext cx="3060700" cy="381000"/>
          </a:xfrm>
          <a:prstGeom prst="rect">
            <a:avLst/>
          </a:prstGeom>
          <a:noFill/>
        </p:spPr>
        <p:txBody>
          <a:bodyPr vert="horz" wrap="square" lIns="0" tIns="0" rIns="0" bIns="0" rtlCol="0">
            <a:noAutofit/>
          </a:bodyPr>
          <a:lstStyle/>
          <a:p>
            <a:pPr algn="l">
              <a:spcAft>
                <a:spcPts val="300"/>
              </a:spcAft>
            </a:pPr>
            <a:r>
              <a:rPr lang="en-US" b="1">
                <a:solidFill>
                  <a:srgbClr val="008F99"/>
                </a:solidFill>
                <a:latin typeface="Segoe UI" panose="020B0502040204020203" pitchFamily="34" charset="0"/>
              </a:rPr>
              <a:t>Get started</a:t>
            </a:r>
            <a:endParaRPr lang="en-US" b="1" dirty="0" err="1">
              <a:solidFill>
                <a:srgbClr val="008F99"/>
              </a:solidFill>
              <a:latin typeface="Segoe UI" panose="020B0502040204020203" pitchFamily="34" charset="0"/>
            </a:endParaRPr>
          </a:p>
        </p:txBody>
      </p:sp>
      <p:sp>
        <p:nvSpPr>
          <p:cNvPr id="21" name="TextBox 20">
            <a:extLst>
              <a:ext uri="{FF2B5EF4-FFF2-40B4-BE49-F238E27FC236}">
                <a16:creationId xmlns:a16="http://schemas.microsoft.com/office/drawing/2014/main" id="{4EF8846C-5041-1013-60AF-DA3ADC055A46}"/>
              </a:ext>
            </a:extLst>
          </p:cNvPr>
          <p:cNvSpPr txBox="1"/>
          <p:nvPr/>
        </p:nvSpPr>
        <p:spPr>
          <a:xfrm>
            <a:off x="8343900" y="4279899"/>
            <a:ext cx="3060700" cy="901700"/>
          </a:xfrm>
          <a:prstGeom prst="rect">
            <a:avLst/>
          </a:prstGeom>
          <a:noFill/>
        </p:spPr>
        <p:txBody>
          <a:bodyPr vert="horz" wrap="square" lIns="0" tIns="0" rIns="0" bIns="0" rtlCol="0">
            <a:noAutofit/>
          </a:bodyPr>
          <a:lstStyle/>
          <a:p>
            <a:pPr algn="l">
              <a:spcAft>
                <a:spcPts val="300"/>
              </a:spcAft>
            </a:pPr>
            <a:r>
              <a:rPr lang="en-US" sz="1500">
                <a:solidFill>
                  <a:srgbClr val="202020"/>
                </a:solidFill>
                <a:latin typeface="Segoe UI" panose="020B0502040204020203" pitchFamily="34" charset="0"/>
              </a:rPr>
              <a:t>pip install agent-framework</a:t>
            </a:r>
            <a:endParaRPr lang="en-US" sz="1500" dirty="0" err="1">
              <a:solidFill>
                <a:srgbClr val="202020"/>
              </a:solidFill>
              <a:latin typeface="Segoe UI" panose="020B0502040204020203" pitchFamily="34" charset="0"/>
            </a:endParaRPr>
          </a:p>
          <a:p>
            <a:pPr algn="l">
              <a:spcAft>
                <a:spcPts val="300"/>
              </a:spcAft>
            </a:pPr>
            <a:r>
              <a:rPr lang="en-US" sz="1500">
                <a:solidFill>
                  <a:srgbClr val="202020"/>
                </a:solidFill>
                <a:latin typeface="Segoe UI" panose="020B0502040204020203" pitchFamily="34" charset="0"/>
              </a:rPr>
              <a:t>GitHub: microsoft/agent-framework</a:t>
            </a:r>
            <a:endParaRPr lang="en-US" sz="1500" dirty="0" err="1">
              <a:solidFill>
                <a:srgbClr val="202020"/>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5918A93C-4656-83DE-673A-7B5F460AB3EC}"/>
              </a:ext>
            </a:extLst>
          </p:cNvPr>
          <p:cNvSpPr/>
          <p:nvPr/>
        </p:nvSpPr>
        <p:spPr bwMode="auto">
          <a:xfrm>
            <a:off x="584200" y="5524500"/>
            <a:ext cx="11023600" cy="546100"/>
          </a:xfrm>
          <a:prstGeom prst="roundRect">
            <a:avLst>
              <a:gd name="adj" fmla="val 12000"/>
            </a:avLst>
          </a:prstGeom>
          <a:solidFill>
            <a:srgbClr val="E4F2FA"/>
          </a:solidFill>
          <a:ln w="10160">
            <a:solidFill>
              <a:srgbClr val="E4F2F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TextBox 22">
            <a:extLst>
              <a:ext uri="{FF2B5EF4-FFF2-40B4-BE49-F238E27FC236}">
                <a16:creationId xmlns:a16="http://schemas.microsoft.com/office/drawing/2014/main" id="{4DED61D1-AF80-981A-7D10-B2CAB8620AEF}"/>
              </a:ext>
            </a:extLst>
          </p:cNvPr>
          <p:cNvSpPr txBox="1"/>
          <p:nvPr/>
        </p:nvSpPr>
        <p:spPr>
          <a:xfrm>
            <a:off x="762000" y="5651500"/>
            <a:ext cx="10668000" cy="317500"/>
          </a:xfrm>
          <a:prstGeom prst="rect">
            <a:avLst/>
          </a:prstGeom>
          <a:noFill/>
        </p:spPr>
        <p:txBody>
          <a:bodyPr vert="horz" wrap="square" lIns="0" tIns="0" rIns="0" bIns="0" rtlCol="0">
            <a:noAutofit/>
          </a:bodyPr>
          <a:lstStyle/>
          <a:p>
            <a:pPr algn="l">
              <a:spcAft>
                <a:spcPts val="300"/>
              </a:spcAft>
            </a:pPr>
            <a:r>
              <a:rPr lang="en-US" sz="1600" b="1">
                <a:solidFill>
                  <a:srgbClr val="0078D4"/>
                </a:solidFill>
                <a:latin typeface="Segoe UI" panose="020B0502040204020203" pitchFamily="34" charset="0"/>
              </a:rPr>
              <a:t>Start with one agent. Add tools, workflows, and A2A as you need them.</a:t>
            </a:r>
            <a:endParaRPr lang="en-US" sz="1600" b="1" dirty="0" err="1">
              <a:solidFill>
                <a:srgbClr val="0078D4"/>
              </a:solidFill>
              <a:latin typeface="Segoe UI" panose="020B0502040204020203" pitchFamily="34" charset="0"/>
            </a:endParaRPr>
          </a:p>
        </p:txBody>
      </p:sp>
      <p:sp>
        <p:nvSpPr>
          <p:cNvPr id="24" name="TextBox 23">
            <a:extLst>
              <a:ext uri="{FF2B5EF4-FFF2-40B4-BE49-F238E27FC236}">
                <a16:creationId xmlns:a16="http://schemas.microsoft.com/office/drawing/2014/main" id="{0BF52AA6-44C5-4F69-2E27-8568F32C8DAF}"/>
              </a:ext>
            </a:extLst>
          </p:cNvPr>
          <p:cNvSpPr txBox="1"/>
          <p:nvPr/>
        </p:nvSpPr>
        <p:spPr>
          <a:xfrm>
            <a:off x="609600" y="6134100"/>
            <a:ext cx="10972800" cy="304800"/>
          </a:xfrm>
          <a:prstGeom prst="rect">
            <a:avLst/>
          </a:prstGeom>
          <a:noFill/>
        </p:spPr>
        <p:txBody>
          <a:bodyPr vert="horz" wrap="square" lIns="0" tIns="0" rIns="0" bIns="0" rtlCol="0">
            <a:noAutofit/>
          </a:bodyPr>
          <a:lstStyle/>
          <a:p>
            <a:pPr algn="l">
              <a:spcAft>
                <a:spcPts val="300"/>
              </a:spcAft>
            </a:pPr>
            <a:r>
              <a:rPr lang="en-US" sz="1050">
                <a:solidFill>
                  <a:srgbClr val="545460"/>
                </a:solidFill>
                <a:latin typeface="Segoe UI" panose="020B0502040204020203" pitchFamily="34" charset="0"/>
              </a:rPr>
              <a:t>Thank you  |  Docs: learn.microsoft.com/en-us/agent-framework</a:t>
            </a:r>
            <a:endParaRPr lang="en-US" sz="1050" dirty="0" err="1">
              <a:solidFill>
                <a:srgbClr val="545460"/>
              </a:solidFill>
              <a:latin typeface="Segoe UI" panose="020B0502040204020203" pitchFamily="34" charset="0"/>
            </a:endParaRPr>
          </a:p>
        </p:txBody>
      </p:sp>
      <p:sp>
        <p:nvSpPr>
          <p:cNvPr id="25" name="TextBox 24">
            <a:extLst>
              <a:ext uri="{FF2B5EF4-FFF2-40B4-BE49-F238E27FC236}">
                <a16:creationId xmlns:a16="http://schemas.microsoft.com/office/drawing/2014/main" id="{E520AD7A-CC20-4A96-88AA-EB5235E05F78}"/>
              </a:ext>
            </a:extLst>
          </p:cNvPr>
          <p:cNvSpPr txBox="1"/>
          <p:nvPr/>
        </p:nvSpPr>
        <p:spPr>
          <a:xfrm>
            <a:off x="584200" y="6540500"/>
            <a:ext cx="5334000" cy="165100"/>
          </a:xfrm>
          <a:prstGeom prst="rect">
            <a:avLst/>
          </a:prstGeom>
          <a:noFill/>
        </p:spPr>
        <p:txBody>
          <a:bodyPr vert="horz" wrap="square" lIns="0" tIns="0" rIns="0" bIns="0" rtlCol="0">
            <a:noAutofit/>
          </a:bodyPr>
          <a:lstStyle/>
          <a:p>
            <a:pPr algn="l">
              <a:spcAft>
                <a:spcPts val="300"/>
              </a:spcAft>
            </a:pPr>
            <a:r>
              <a:rPr lang="en-US" sz="900" dirty="0">
                <a:solidFill>
                  <a:srgbClr val="545460"/>
                </a:solidFill>
                <a:latin typeface="Segoe UI" panose="020B0502040204020203" pitchFamily="34" charset="0"/>
              </a:rPr>
              <a:t>MICROSOFT AGENT FRAMEWORK  /  OCTOBER 2026</a:t>
            </a:r>
          </a:p>
        </p:txBody>
      </p:sp>
      <p:sp>
        <p:nvSpPr>
          <p:cNvPr id="26" name="TextBox 25">
            <a:extLst>
              <a:ext uri="{FF2B5EF4-FFF2-40B4-BE49-F238E27FC236}">
                <a16:creationId xmlns:a16="http://schemas.microsoft.com/office/drawing/2014/main" id="{425FFD27-2231-B43D-9754-A5E92A2D997F}"/>
              </a:ext>
            </a:extLst>
          </p:cNvPr>
          <p:cNvSpPr txBox="1"/>
          <p:nvPr/>
        </p:nvSpPr>
        <p:spPr>
          <a:xfrm>
            <a:off x="6007100" y="6489700"/>
            <a:ext cx="5003800" cy="266700"/>
          </a:xfrm>
          <a:prstGeom prst="rect">
            <a:avLst/>
          </a:prstGeom>
          <a:noFill/>
        </p:spPr>
        <p:txBody>
          <a:bodyPr vert="horz" wrap="square" lIns="0" tIns="0" rIns="0" bIns="0" rtlCol="0">
            <a:noAutofit/>
          </a:bodyPr>
          <a:lstStyle/>
          <a:p>
            <a:pPr algn="l">
              <a:spcAft>
                <a:spcPts val="300"/>
              </a:spcAft>
            </a:pPr>
            <a:r>
              <a:rPr lang="en-US" sz="1000">
                <a:solidFill>
                  <a:srgbClr val="0078D4"/>
                </a:solidFill>
                <a:latin typeface="Segoe UI" panose="020B0502040204020203" pitchFamily="34" charset="0"/>
              </a:rPr>
              <a:t>Sources in speaker notes</a:t>
            </a:r>
            <a:endParaRPr lang="en-US" sz="1000" dirty="0" err="1">
              <a:solidFill>
                <a:srgbClr val="0078D4"/>
              </a:solidFill>
              <a:latin typeface="Segoe UI" panose="020B0502040204020203" pitchFamily="34" charset="0"/>
            </a:endParaRPr>
          </a:p>
        </p:txBody>
      </p:sp>
      <p:sp>
        <p:nvSpPr>
          <p:cNvPr id="27" name="SlideNumber">
            <a:extLst>
              <a:ext uri="{FF2B5EF4-FFF2-40B4-BE49-F238E27FC236}">
                <a16:creationId xmlns:a16="http://schemas.microsoft.com/office/drawing/2014/main" id="{B83457DB-BC9E-D71B-D444-7D1623E0FE77}"/>
              </a:ext>
            </a:extLst>
          </p:cNvPr>
          <p:cNvSpPr txBox="1"/>
          <p:nvPr/>
        </p:nvSpPr>
        <p:spPr>
          <a:xfrm>
            <a:off x="11252200" y="6489700"/>
            <a:ext cx="381000" cy="254000"/>
          </a:xfrm>
          <a:prstGeom prst="rect">
            <a:avLst/>
          </a:prstGeom>
          <a:noFill/>
        </p:spPr>
        <p:txBody>
          <a:bodyPr vert="horz" wrap="square" lIns="0" tIns="0" rIns="0" bIns="0" rtlCol="0">
            <a:noAutofit/>
          </a:bodyPr>
          <a:lstStyle/>
          <a:p>
            <a:pPr algn="l">
              <a:spcAft>
                <a:spcPts val="300"/>
              </a:spcAft>
            </a:pPr>
            <a:r>
              <a:rPr lang="en-US" sz="1000">
                <a:solidFill>
                  <a:srgbClr val="545460"/>
                </a:solidFill>
                <a:latin typeface="Segoe UI" panose="020B0502040204020203" pitchFamily="34" charset="0"/>
              </a:rPr>
              <a:t>09</a:t>
            </a:r>
            <a:endParaRPr lang="en-US" sz="1000" dirty="0" err="1">
              <a:solidFill>
                <a:srgbClr val="545460"/>
              </a:solidFill>
              <a:latin typeface="Segoe UI" panose="020B0502040204020203" pitchFamily="34" charset="0"/>
            </a:endParaRPr>
          </a:p>
        </p:txBody>
      </p:sp>
    </p:spTree>
    <p:extLst>
      <p:ext uri="{BB962C8B-B14F-4D97-AF65-F5344CB8AC3E}">
        <p14:creationId xmlns:p14="http://schemas.microsoft.com/office/powerpoint/2010/main" val="1804102261"/>
      </p:ext>
    </p:extLst>
  </p:cSld>
  <p:clrMapOvr>
    <a:masterClrMapping/>
  </p:clrMapOvr>
  <p:transition>
    <p:fade/>
  </p:transition>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2.xml><?xml version="1.0" encoding="utf-8"?>
<a:theme xmlns:a="http://schemas.openxmlformats.org/drawingml/2006/main" name="Microsoft Ignite 16:9 Template Light">
  <a:themeElements>
    <a:clrScheme name="Custom 58">
      <a:dk1>
        <a:srgbClr val="000000"/>
      </a:dk1>
      <a:lt1>
        <a:srgbClr val="F4F3F5"/>
      </a:lt1>
      <a:dk2>
        <a:srgbClr val="2A446F"/>
      </a:dk2>
      <a:lt2>
        <a:srgbClr val="F4F3F5"/>
      </a:lt2>
      <a:accent1>
        <a:srgbClr val="0078D4"/>
      </a:accent1>
      <a:accent2>
        <a:srgbClr val="C03BC4"/>
      </a:accent2>
      <a:accent3>
        <a:srgbClr val="2A446F"/>
      </a:accent3>
      <a:accent4>
        <a:srgbClr val="B1B3B3"/>
      </a:accent4>
      <a:accent5>
        <a:srgbClr val="8661C5"/>
      </a:accent5>
      <a:accent6>
        <a:srgbClr val="8C8279"/>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gnite_2025_16-9 Event-template.potx" id="{1862E5A4-93FD-4D41-8601-95AE562FD9DF}" vid="{41B775BF-E29A-4701-9FC9-C12DAAC44CF0}"/>
    </a:ext>
  </a:extLst>
</a:theme>
</file>

<file path=ppt/theme/theme3.xml><?xml version="1.0" encoding="utf-8"?>
<a:theme xmlns:a="http://schemas.openxmlformats.org/drawingml/2006/main" name="1_Office Theme">
  <a:themeElements>
    <a:clrScheme name="Custom 47">
      <a:dk1>
        <a:srgbClr val="000000"/>
      </a:dk1>
      <a:lt1>
        <a:srgbClr val="FEFFFE"/>
      </a:lt1>
      <a:dk2>
        <a:srgbClr val="7E7E7E"/>
      </a:dk2>
      <a:lt2>
        <a:srgbClr val="969696"/>
      </a:lt2>
      <a:accent1>
        <a:srgbClr val="5230AC"/>
      </a:accent1>
      <a:accent2>
        <a:srgbClr val="8251EE"/>
      </a:accent2>
      <a:accent3>
        <a:srgbClr val="AD5DF0"/>
      </a:accent3>
      <a:accent4>
        <a:srgbClr val="E36BF1"/>
      </a:accent4>
      <a:accent5>
        <a:srgbClr val="D49DFF"/>
      </a:accent5>
      <a:accent6>
        <a:srgbClr val="FBB0CB"/>
      </a:accent6>
      <a:hlink>
        <a:srgbClr val="AF5DEF"/>
      </a:hlink>
      <a:folHlink>
        <a:srgbClr val="5A36B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9" id="{01099D4C-AF97-BA49-9311-A9B4978D8F91}" vid="{0B546764-EF41-0445-AA22-77866C094E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4851</Words>
  <Application>Microsoft Office PowerPoint</Application>
  <PresentationFormat>Widescreen</PresentationFormat>
  <Paragraphs>289</Paragraphs>
  <Slides>9</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9</vt:i4>
      </vt:variant>
    </vt:vector>
  </HeadingPairs>
  <TitlesOfParts>
    <vt:vector size="22" baseType="lpstr">
      <vt:lpstr>Aptos</vt:lpstr>
      <vt:lpstr>Arial</vt:lpstr>
      <vt:lpstr>Calibri</vt:lpstr>
      <vt:lpstr>Consolas</vt:lpstr>
      <vt:lpstr>Segoe Sans Display Semibold</vt:lpstr>
      <vt:lpstr>Segoe Sans Text</vt:lpstr>
      <vt:lpstr>Segoe Sans Text Semibold</vt:lpstr>
      <vt:lpstr>Segoe UI</vt:lpstr>
      <vt:lpstr>Segoe UI Semibold</vt:lpstr>
      <vt:lpstr>Wingdings</vt:lpstr>
      <vt:lpstr>Azure 2023 Template</vt:lpstr>
      <vt:lpstr>Microsoft Ignite 16:9 Template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Agent Framework | Governed AI for Data Protection</dc:title>
  <dc:creator/>
  <cp:lastModifiedBy>Anil Dwarakanath</cp:lastModifiedBy>
  <cp:revision>2</cp:revision>
  <dcterms:created xsi:type="dcterms:W3CDTF">2026-03-05T23:38:16Z</dcterms:created>
  <dcterms:modified xsi:type="dcterms:W3CDTF">2026-10-05T02:21:41Z</dcterms:modified>
</cp:coreProperties>
</file>